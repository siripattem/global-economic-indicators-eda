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Lst>
  <p:notesMasterIdLst>
    <p:notesMasterId r:id="rId15"/>
  </p:notesMasterIdLst>
  <p:sldIdLst>
    <p:sldId id="256" r:id="rId2"/>
    <p:sldId id="257" r:id="rId3"/>
    <p:sldId id="258" r:id="rId4"/>
    <p:sldId id="259" r:id="rId5"/>
    <p:sldId id="260" r:id="rId6"/>
    <p:sldId id="261" r:id="rId7"/>
    <p:sldId id="263" r:id="rId8"/>
    <p:sldId id="262" r:id="rId9"/>
    <p:sldId id="268" r:id="rId10"/>
    <p:sldId id="265" r:id="rId11"/>
    <p:sldId id="264" r:id="rId12"/>
    <p:sldId id="266" r:id="rId13"/>
    <p:sldId id="267"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59496-BBE7-4555-B83E-56E02A98C8FC}" v="4" dt="2026-09-06T07:29:01.8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 pattem" userId="5cb9b3a290e3eebd" providerId="LiveId" clId="{6A938021-829B-45F2-B18F-9A8935CF31EA}"/>
    <pc:docChg chg="undo custSel modSld">
      <pc:chgData name="siri pattem" userId="5cb9b3a290e3eebd" providerId="LiveId" clId="{6A938021-829B-45F2-B18F-9A8935CF31EA}" dt="2026-09-06T07:30:15.421" v="136" actId="1076"/>
      <pc:docMkLst>
        <pc:docMk/>
      </pc:docMkLst>
      <pc:sldChg chg="addSp modSp mod">
        <pc:chgData name="siri pattem" userId="5cb9b3a290e3eebd" providerId="LiveId" clId="{6A938021-829B-45F2-B18F-9A8935CF31EA}" dt="2026-09-06T07:30:15.421" v="136" actId="1076"/>
        <pc:sldMkLst>
          <pc:docMk/>
          <pc:sldMk cId="0" sldId="258"/>
        </pc:sldMkLst>
        <pc:spChg chg="mod">
          <ac:chgData name="siri pattem" userId="5cb9b3a290e3eebd" providerId="LiveId" clId="{6A938021-829B-45F2-B18F-9A8935CF31EA}" dt="2026-09-06T07:20:02.859" v="77" actId="1076"/>
          <ac:spMkLst>
            <pc:docMk/>
            <pc:sldMk cId="0" sldId="258"/>
            <ac:spMk id="2" creationId="{00000000-0000-0000-0000-000000000000}"/>
          </ac:spMkLst>
        </pc:spChg>
        <pc:spChg chg="mod">
          <ac:chgData name="siri pattem" userId="5cb9b3a290e3eebd" providerId="LiveId" clId="{6A938021-829B-45F2-B18F-9A8935CF31EA}" dt="2026-09-06T07:25:34.611" v="107" actId="20577"/>
          <ac:spMkLst>
            <pc:docMk/>
            <pc:sldMk cId="0" sldId="258"/>
            <ac:spMk id="3" creationId="{00000000-0000-0000-0000-000000000000}"/>
          </ac:spMkLst>
        </pc:spChg>
        <pc:spChg chg="mod">
          <ac:chgData name="siri pattem" userId="5cb9b3a290e3eebd" providerId="LiveId" clId="{6A938021-829B-45F2-B18F-9A8935CF31EA}" dt="2026-09-06T07:20:44.332" v="83" actId="1076"/>
          <ac:spMkLst>
            <pc:docMk/>
            <pc:sldMk cId="0" sldId="258"/>
            <ac:spMk id="4" creationId="{00000000-0000-0000-0000-000000000000}"/>
          </ac:spMkLst>
        </pc:spChg>
        <pc:spChg chg="mod">
          <ac:chgData name="siri pattem" userId="5cb9b3a290e3eebd" providerId="LiveId" clId="{6A938021-829B-45F2-B18F-9A8935CF31EA}" dt="2026-09-06T07:21:02.038" v="86" actId="1076"/>
          <ac:spMkLst>
            <pc:docMk/>
            <pc:sldMk cId="0" sldId="258"/>
            <ac:spMk id="5" creationId="{00000000-0000-0000-0000-000000000000}"/>
          </ac:spMkLst>
        </pc:spChg>
        <pc:spChg chg="mod">
          <ac:chgData name="siri pattem" userId="5cb9b3a290e3eebd" providerId="LiveId" clId="{6A938021-829B-45F2-B18F-9A8935CF31EA}" dt="2026-09-06T07:21:15.804" v="89" actId="1076"/>
          <ac:spMkLst>
            <pc:docMk/>
            <pc:sldMk cId="0" sldId="258"/>
            <ac:spMk id="6" creationId="{00000000-0000-0000-0000-000000000000}"/>
          </ac:spMkLst>
        </pc:spChg>
        <pc:spChg chg="mod">
          <ac:chgData name="siri pattem" userId="5cb9b3a290e3eebd" providerId="LiveId" clId="{6A938021-829B-45F2-B18F-9A8935CF31EA}" dt="2026-09-06T07:25:43.046" v="108" actId="1076"/>
          <ac:spMkLst>
            <pc:docMk/>
            <pc:sldMk cId="0" sldId="258"/>
            <ac:spMk id="8" creationId="{00000000-0000-0000-0000-000000000000}"/>
          </ac:spMkLst>
        </pc:spChg>
        <pc:spChg chg="mod">
          <ac:chgData name="siri pattem" userId="5cb9b3a290e3eebd" providerId="LiveId" clId="{6A938021-829B-45F2-B18F-9A8935CF31EA}" dt="2026-09-06T07:20:23.157" v="80" actId="1076"/>
          <ac:spMkLst>
            <pc:docMk/>
            <pc:sldMk cId="0" sldId="258"/>
            <ac:spMk id="9" creationId="{00000000-0000-0000-0000-000000000000}"/>
          </ac:spMkLst>
        </pc:spChg>
        <pc:spChg chg="mod">
          <ac:chgData name="siri pattem" userId="5cb9b3a290e3eebd" providerId="LiveId" clId="{6A938021-829B-45F2-B18F-9A8935CF31EA}" dt="2026-09-06T07:20:47.828" v="84" actId="1076"/>
          <ac:spMkLst>
            <pc:docMk/>
            <pc:sldMk cId="0" sldId="258"/>
            <ac:spMk id="10" creationId="{00000000-0000-0000-0000-000000000000}"/>
          </ac:spMkLst>
        </pc:spChg>
        <pc:spChg chg="mod">
          <ac:chgData name="siri pattem" userId="5cb9b3a290e3eebd" providerId="LiveId" clId="{6A938021-829B-45F2-B18F-9A8935CF31EA}" dt="2026-09-06T07:21:05.727" v="87" actId="1076"/>
          <ac:spMkLst>
            <pc:docMk/>
            <pc:sldMk cId="0" sldId="258"/>
            <ac:spMk id="11" creationId="{00000000-0000-0000-0000-000000000000}"/>
          </ac:spMkLst>
        </pc:spChg>
        <pc:spChg chg="mod">
          <ac:chgData name="siri pattem" userId="5cb9b3a290e3eebd" providerId="LiveId" clId="{6A938021-829B-45F2-B18F-9A8935CF31EA}" dt="2026-09-06T07:21:23.038" v="90" actId="1076"/>
          <ac:spMkLst>
            <pc:docMk/>
            <pc:sldMk cId="0" sldId="258"/>
            <ac:spMk id="12" creationId="{00000000-0000-0000-0000-000000000000}"/>
          </ac:spMkLst>
        </pc:spChg>
        <pc:spChg chg="mod">
          <ac:chgData name="siri pattem" userId="5cb9b3a290e3eebd" providerId="LiveId" clId="{6A938021-829B-45F2-B18F-9A8935CF31EA}" dt="2026-09-06T07:26:42.363" v="118" actId="1076"/>
          <ac:spMkLst>
            <pc:docMk/>
            <pc:sldMk cId="0" sldId="258"/>
            <ac:spMk id="15" creationId="{00000000-0000-0000-0000-000000000000}"/>
          </ac:spMkLst>
        </pc:spChg>
        <pc:spChg chg="mod">
          <ac:chgData name="siri pattem" userId="5cb9b3a290e3eebd" providerId="LiveId" clId="{6A938021-829B-45F2-B18F-9A8935CF31EA}" dt="2026-09-06T07:20:55.551" v="85" actId="1076"/>
          <ac:spMkLst>
            <pc:docMk/>
            <pc:sldMk cId="0" sldId="258"/>
            <ac:spMk id="16" creationId="{00000000-0000-0000-0000-000000000000}"/>
          </ac:spMkLst>
        </pc:spChg>
        <pc:spChg chg="mod">
          <ac:chgData name="siri pattem" userId="5cb9b3a290e3eebd" providerId="LiveId" clId="{6A938021-829B-45F2-B18F-9A8935CF31EA}" dt="2026-09-06T07:21:11.549" v="88" actId="1076"/>
          <ac:spMkLst>
            <pc:docMk/>
            <pc:sldMk cId="0" sldId="258"/>
            <ac:spMk id="17" creationId="{00000000-0000-0000-0000-000000000000}"/>
          </ac:spMkLst>
        </pc:spChg>
        <pc:spChg chg="mod">
          <ac:chgData name="siri pattem" userId="5cb9b3a290e3eebd" providerId="LiveId" clId="{6A938021-829B-45F2-B18F-9A8935CF31EA}" dt="2026-09-06T07:21:34.495" v="91" actId="1076"/>
          <ac:spMkLst>
            <pc:docMk/>
            <pc:sldMk cId="0" sldId="258"/>
            <ac:spMk id="18" creationId="{00000000-0000-0000-0000-000000000000}"/>
          </ac:spMkLst>
        </pc:spChg>
        <pc:spChg chg="mod">
          <ac:chgData name="siri pattem" userId="5cb9b3a290e3eebd" providerId="LiveId" clId="{6A938021-829B-45F2-B18F-9A8935CF31EA}" dt="2026-09-06T07:24:12.025" v="100" actId="1076"/>
          <ac:spMkLst>
            <pc:docMk/>
            <pc:sldMk cId="0" sldId="258"/>
            <ac:spMk id="20" creationId="{00000000-0000-0000-0000-000000000000}"/>
          </ac:spMkLst>
        </pc:spChg>
        <pc:spChg chg="mod">
          <ac:chgData name="siri pattem" userId="5cb9b3a290e3eebd" providerId="LiveId" clId="{6A938021-829B-45F2-B18F-9A8935CF31EA}" dt="2026-09-06T07:29:31.433" v="130" actId="1076"/>
          <ac:spMkLst>
            <pc:docMk/>
            <pc:sldMk cId="0" sldId="258"/>
            <ac:spMk id="21" creationId="{00000000-0000-0000-0000-000000000000}"/>
          </ac:spMkLst>
        </pc:spChg>
        <pc:spChg chg="mod">
          <ac:chgData name="siri pattem" userId="5cb9b3a290e3eebd" providerId="LiveId" clId="{6A938021-829B-45F2-B18F-9A8935CF31EA}" dt="2026-09-06T07:30:04.874" v="134" actId="6549"/>
          <ac:spMkLst>
            <pc:docMk/>
            <pc:sldMk cId="0" sldId="258"/>
            <ac:spMk id="23" creationId="{CCC4C789-C53A-66CE-BF98-40575074F95C}"/>
          </ac:spMkLst>
        </pc:spChg>
        <pc:spChg chg="add mod">
          <ac:chgData name="siri pattem" userId="5cb9b3a290e3eebd" providerId="LiveId" clId="{6A938021-829B-45F2-B18F-9A8935CF31EA}" dt="2026-09-06T07:25:06.207" v="105" actId="1076"/>
          <ac:spMkLst>
            <pc:docMk/>
            <pc:sldMk cId="0" sldId="258"/>
            <ac:spMk id="24" creationId="{F624FC5A-9CBE-D5CC-025A-0E5057AEC82F}"/>
          </ac:spMkLst>
        </pc:spChg>
        <pc:spChg chg="add mod">
          <ac:chgData name="siri pattem" userId="5cb9b3a290e3eebd" providerId="LiveId" clId="{6A938021-829B-45F2-B18F-9A8935CF31EA}" dt="2026-09-06T07:27:14.948" v="119" actId="1076"/>
          <ac:spMkLst>
            <pc:docMk/>
            <pc:sldMk cId="0" sldId="258"/>
            <ac:spMk id="26" creationId="{B005BBE1-A4AA-4B02-F3CF-1E6D5523F728}"/>
          </ac:spMkLst>
        </pc:spChg>
        <pc:spChg chg="mod">
          <ac:chgData name="siri pattem" userId="5cb9b3a290e3eebd" providerId="LiveId" clId="{6A938021-829B-45F2-B18F-9A8935CF31EA}" dt="2026-09-06T07:20:08.319" v="78" actId="1076"/>
          <ac:spMkLst>
            <pc:docMk/>
            <pc:sldMk cId="0" sldId="258"/>
            <ac:spMk id="27" creationId="{0381A56E-8793-6C5D-C5E9-DC44ACFBD238}"/>
          </ac:spMkLst>
        </pc:spChg>
        <pc:spChg chg="add mod">
          <ac:chgData name="siri pattem" userId="5cb9b3a290e3eebd" providerId="LiveId" clId="{6A938021-829B-45F2-B18F-9A8935CF31EA}" dt="2026-09-06T07:27:58.634" v="126" actId="1076"/>
          <ac:spMkLst>
            <pc:docMk/>
            <pc:sldMk cId="0" sldId="258"/>
            <ac:spMk id="29" creationId="{A0FE8451-6D61-113B-4157-F9619883DCE0}"/>
          </ac:spMkLst>
        </pc:spChg>
        <pc:spChg chg="add mod">
          <ac:chgData name="siri pattem" userId="5cb9b3a290e3eebd" providerId="LiveId" clId="{6A938021-829B-45F2-B18F-9A8935CF31EA}" dt="2026-09-06T07:30:15.421" v="136" actId="1076"/>
          <ac:spMkLst>
            <pc:docMk/>
            <pc:sldMk cId="0" sldId="258"/>
            <ac:spMk id="31" creationId="{F71EF059-3081-64D7-D2C8-556D0D36CA7B}"/>
          </ac:spMkLst>
        </pc:spChg>
      </pc:sldChg>
      <pc:sldChg chg="addSp modSp mod">
        <pc:chgData name="siri pattem" userId="5cb9b3a290e3eebd" providerId="LiveId" clId="{6A938021-829B-45F2-B18F-9A8935CF31EA}" dt="2026-09-06T03:53:35.837" v="65" actId="1076"/>
        <pc:sldMkLst>
          <pc:docMk/>
          <pc:sldMk cId="0" sldId="261"/>
        </pc:sldMkLst>
        <pc:spChg chg="mod">
          <ac:chgData name="siri pattem" userId="5cb9b3a290e3eebd" providerId="LiveId" clId="{6A938021-829B-45F2-B18F-9A8935CF31EA}" dt="2026-09-06T03:52:30.606" v="57" actId="1076"/>
          <ac:spMkLst>
            <pc:docMk/>
            <pc:sldMk cId="0" sldId="261"/>
            <ac:spMk id="2" creationId="{00000000-0000-0000-0000-000000000000}"/>
          </ac:spMkLst>
        </pc:spChg>
        <pc:spChg chg="mod">
          <ac:chgData name="siri pattem" userId="5cb9b3a290e3eebd" providerId="LiveId" clId="{6A938021-829B-45F2-B18F-9A8935CF31EA}" dt="2026-09-06T03:52:57.953" v="62" actId="1076"/>
          <ac:spMkLst>
            <pc:docMk/>
            <pc:sldMk cId="0" sldId="261"/>
            <ac:spMk id="3" creationId="{00000000-0000-0000-0000-000000000000}"/>
          </ac:spMkLst>
        </pc:spChg>
        <pc:spChg chg="add mod">
          <ac:chgData name="siri pattem" userId="5cb9b3a290e3eebd" providerId="LiveId" clId="{6A938021-829B-45F2-B18F-9A8935CF31EA}" dt="2026-09-06T03:53:22.316" v="64" actId="1076"/>
          <ac:spMkLst>
            <pc:docMk/>
            <pc:sldMk cId="0" sldId="261"/>
            <ac:spMk id="5" creationId="{4504BC16-E042-8B2E-95C4-C35492F081E4}"/>
          </ac:spMkLst>
        </pc:spChg>
        <pc:spChg chg="mod">
          <ac:chgData name="siri pattem" userId="5cb9b3a290e3eebd" providerId="LiveId" clId="{6A938021-829B-45F2-B18F-9A8935CF31EA}" dt="2026-09-06T03:53:09.302" v="63" actId="1076"/>
          <ac:spMkLst>
            <pc:docMk/>
            <pc:sldMk cId="0" sldId="261"/>
            <ac:spMk id="18" creationId="{3A5049DE-F0C4-0C9A-EA96-AE79DB02847F}"/>
          </ac:spMkLst>
        </pc:spChg>
        <pc:picChg chg="mod">
          <ac:chgData name="siri pattem" userId="5cb9b3a290e3eebd" providerId="LiveId" clId="{6A938021-829B-45F2-B18F-9A8935CF31EA}" dt="2026-09-06T03:53:35.837" v="65" actId="1076"/>
          <ac:picMkLst>
            <pc:docMk/>
            <pc:sldMk cId="0" sldId="261"/>
            <ac:picMk id="10" creationId="{B01281D0-2A8C-8773-D14E-CB38C0E4AAA0}"/>
          </ac:picMkLst>
        </pc:picChg>
      </pc:sldChg>
      <pc:sldChg chg="addSp modSp mod">
        <pc:chgData name="siri pattem" userId="5cb9b3a290e3eebd" providerId="LiveId" clId="{6A938021-829B-45F2-B18F-9A8935CF31EA}" dt="2026-09-06T03:49:29.142" v="36" actId="1076"/>
        <pc:sldMkLst>
          <pc:docMk/>
          <pc:sldMk cId="0" sldId="262"/>
        </pc:sldMkLst>
        <pc:spChg chg="mod">
          <ac:chgData name="siri pattem" userId="5cb9b3a290e3eebd" providerId="LiveId" clId="{6A938021-829B-45F2-B18F-9A8935CF31EA}" dt="2026-09-06T03:49:22.893" v="35" actId="1076"/>
          <ac:spMkLst>
            <pc:docMk/>
            <pc:sldMk cId="0" sldId="262"/>
            <ac:spMk id="3" creationId="{00000000-0000-0000-0000-000000000000}"/>
          </ac:spMkLst>
        </pc:spChg>
        <pc:spChg chg="add mod">
          <ac:chgData name="siri pattem" userId="5cb9b3a290e3eebd" providerId="LiveId" clId="{6A938021-829B-45F2-B18F-9A8935CF31EA}" dt="2026-09-06T03:49:29.142" v="36" actId="1076"/>
          <ac:spMkLst>
            <pc:docMk/>
            <pc:sldMk cId="0" sldId="262"/>
            <ac:spMk id="9" creationId="{A2F22DA3-EEE4-A27C-EBB5-33B7D701BC6E}"/>
          </ac:spMkLst>
        </pc:spChg>
      </pc:sldChg>
      <pc:sldChg chg="addSp modSp mod">
        <pc:chgData name="siri pattem" userId="5cb9b3a290e3eebd" providerId="LiveId" clId="{6A938021-829B-45F2-B18F-9A8935CF31EA}" dt="2026-09-06T03:56:17.472" v="76" actId="1076"/>
        <pc:sldMkLst>
          <pc:docMk/>
          <pc:sldMk cId="0" sldId="263"/>
        </pc:sldMkLst>
        <pc:spChg chg="mod">
          <ac:chgData name="siri pattem" userId="5cb9b3a290e3eebd" providerId="LiveId" clId="{6A938021-829B-45F2-B18F-9A8935CF31EA}" dt="2026-09-06T03:55:18.549" v="68" actId="1076"/>
          <ac:spMkLst>
            <pc:docMk/>
            <pc:sldMk cId="0" sldId="263"/>
            <ac:spMk id="2" creationId="{00000000-0000-0000-0000-000000000000}"/>
          </ac:spMkLst>
        </pc:spChg>
        <pc:spChg chg="mod">
          <ac:chgData name="siri pattem" userId="5cb9b3a290e3eebd" providerId="LiveId" clId="{6A938021-829B-45F2-B18F-9A8935CF31EA}" dt="2026-09-06T03:55:21.200" v="69" actId="1076"/>
          <ac:spMkLst>
            <pc:docMk/>
            <pc:sldMk cId="0" sldId="263"/>
            <ac:spMk id="3" creationId="{00000000-0000-0000-0000-000000000000}"/>
          </ac:spMkLst>
        </pc:spChg>
        <pc:spChg chg="add mod">
          <ac:chgData name="siri pattem" userId="5cb9b3a290e3eebd" providerId="LiveId" clId="{6A938021-829B-45F2-B18F-9A8935CF31EA}" dt="2026-09-06T03:56:17.472" v="76" actId="1076"/>
          <ac:spMkLst>
            <pc:docMk/>
            <pc:sldMk cId="0" sldId="263"/>
            <ac:spMk id="9" creationId="{C0E69407-752B-27A0-2B51-86261DDC0961}"/>
          </ac:spMkLst>
        </pc:spChg>
        <pc:spChg chg="mod">
          <ac:chgData name="siri pattem" userId="5cb9b3a290e3eebd" providerId="LiveId" clId="{6A938021-829B-45F2-B18F-9A8935CF31EA}" dt="2026-09-06T03:55:10.327" v="66" actId="1076"/>
          <ac:spMkLst>
            <pc:docMk/>
            <pc:sldMk cId="0" sldId="263"/>
            <ac:spMk id="12" creationId="{3F681B0E-D47A-8AB2-6BBE-D0E94B8A2B2A}"/>
          </ac:spMkLst>
        </pc:spChg>
      </pc:sldChg>
      <pc:sldChg chg="addSp modSp mod">
        <pc:chgData name="siri pattem" userId="5cb9b3a290e3eebd" providerId="LiveId" clId="{6A938021-829B-45F2-B18F-9A8935CF31EA}" dt="2026-09-06T03:51:15.397" v="49" actId="1076"/>
        <pc:sldMkLst>
          <pc:docMk/>
          <pc:sldMk cId="0" sldId="264"/>
        </pc:sldMkLst>
        <pc:spChg chg="mod">
          <ac:chgData name="siri pattem" userId="5cb9b3a290e3eebd" providerId="LiveId" clId="{6A938021-829B-45F2-B18F-9A8935CF31EA}" dt="2026-09-06T03:51:02.160" v="47" actId="1076"/>
          <ac:spMkLst>
            <pc:docMk/>
            <pc:sldMk cId="0" sldId="264"/>
            <ac:spMk id="2" creationId="{00000000-0000-0000-0000-000000000000}"/>
          </ac:spMkLst>
        </pc:spChg>
        <pc:spChg chg="mod">
          <ac:chgData name="siri pattem" userId="5cb9b3a290e3eebd" providerId="LiveId" clId="{6A938021-829B-45F2-B18F-9A8935CF31EA}" dt="2026-09-06T03:51:15.397" v="49" actId="1076"/>
          <ac:spMkLst>
            <pc:docMk/>
            <pc:sldMk cId="0" sldId="264"/>
            <ac:spMk id="3" creationId="{00000000-0000-0000-0000-000000000000}"/>
          </ac:spMkLst>
        </pc:spChg>
        <pc:spChg chg="add mod">
          <ac:chgData name="siri pattem" userId="5cb9b3a290e3eebd" providerId="LiveId" clId="{6A938021-829B-45F2-B18F-9A8935CF31EA}" dt="2026-09-06T03:50:57.903" v="46" actId="1076"/>
          <ac:spMkLst>
            <pc:docMk/>
            <pc:sldMk cId="0" sldId="264"/>
            <ac:spMk id="9" creationId="{0B856B6E-EEA6-98A7-64DF-3CEFAF6A3EB8}"/>
          </ac:spMkLst>
        </pc:spChg>
        <pc:spChg chg="mod">
          <ac:chgData name="siri pattem" userId="5cb9b3a290e3eebd" providerId="LiveId" clId="{6A938021-829B-45F2-B18F-9A8935CF31EA}" dt="2026-09-06T03:51:09.575" v="48" actId="1076"/>
          <ac:spMkLst>
            <pc:docMk/>
            <pc:sldMk cId="0" sldId="264"/>
            <ac:spMk id="12" creationId="{C39CA03A-F4C6-F96E-8280-5F660A01C2FA}"/>
          </ac:spMkLst>
        </pc:spChg>
      </pc:sldChg>
      <pc:sldChg chg="modSp mod">
        <pc:chgData name="siri pattem" userId="5cb9b3a290e3eebd" providerId="LiveId" clId="{6A938021-829B-45F2-B18F-9A8935CF31EA}" dt="2026-09-06T03:48:01.699" v="28" actId="207"/>
        <pc:sldMkLst>
          <pc:docMk/>
          <pc:sldMk cId="0" sldId="265"/>
        </pc:sldMkLst>
        <pc:spChg chg="mod">
          <ac:chgData name="siri pattem" userId="5cb9b3a290e3eebd" providerId="LiveId" clId="{6A938021-829B-45F2-B18F-9A8935CF31EA}" dt="2026-09-06T03:43:12.344" v="8" actId="1076"/>
          <ac:spMkLst>
            <pc:docMk/>
            <pc:sldMk cId="0" sldId="265"/>
            <ac:spMk id="4" creationId="{00000000-0000-0000-0000-000000000000}"/>
          </ac:spMkLst>
        </pc:spChg>
        <pc:spChg chg="mod">
          <ac:chgData name="siri pattem" userId="5cb9b3a290e3eebd" providerId="LiveId" clId="{6A938021-829B-45F2-B18F-9A8935CF31EA}" dt="2026-09-06T03:43:41.040" v="11" actId="1076"/>
          <ac:spMkLst>
            <pc:docMk/>
            <pc:sldMk cId="0" sldId="265"/>
            <ac:spMk id="6" creationId="{00000000-0000-0000-0000-000000000000}"/>
          </ac:spMkLst>
        </pc:spChg>
        <pc:spChg chg="mod">
          <ac:chgData name="siri pattem" userId="5cb9b3a290e3eebd" providerId="LiveId" clId="{6A938021-829B-45F2-B18F-9A8935CF31EA}" dt="2026-09-06T03:43:49.521" v="12" actId="1076"/>
          <ac:spMkLst>
            <pc:docMk/>
            <pc:sldMk cId="0" sldId="265"/>
            <ac:spMk id="10" creationId="{98A1AB13-8A3B-600B-6206-3314BD7410A0}"/>
          </ac:spMkLst>
        </pc:spChg>
        <pc:spChg chg="mod">
          <ac:chgData name="siri pattem" userId="5cb9b3a290e3eebd" providerId="LiveId" clId="{6A938021-829B-45F2-B18F-9A8935CF31EA}" dt="2026-09-06T03:42:27.607" v="6" actId="1076"/>
          <ac:spMkLst>
            <pc:docMk/>
            <pc:sldMk cId="0" sldId="265"/>
            <ac:spMk id="28" creationId="{990D8D94-C3AF-9148-FEC9-1E1AD7F99EA6}"/>
          </ac:spMkLst>
        </pc:spChg>
        <pc:spChg chg="mod">
          <ac:chgData name="siri pattem" userId="5cb9b3a290e3eebd" providerId="LiveId" clId="{6A938021-829B-45F2-B18F-9A8935CF31EA}" dt="2026-09-06T03:48:01.699" v="28" actId="207"/>
          <ac:spMkLst>
            <pc:docMk/>
            <pc:sldMk cId="0" sldId="265"/>
            <ac:spMk id="30" creationId="{F3646338-F08D-6DA2-EF24-CB804F578235}"/>
          </ac:spMkLst>
        </pc:spChg>
        <pc:picChg chg="mod">
          <ac:chgData name="siri pattem" userId="5cb9b3a290e3eebd" providerId="LiveId" clId="{6A938021-829B-45F2-B18F-9A8935CF31EA}" dt="2026-09-06T03:43:17.774" v="9" actId="1076"/>
          <ac:picMkLst>
            <pc:docMk/>
            <pc:sldMk cId="0" sldId="265"/>
            <ac:picMk id="26" creationId="{10EF45C9-F120-6637-5A5F-D543B61CDB11}"/>
          </ac:picMkLst>
        </pc:picChg>
      </pc:sldChg>
      <pc:sldChg chg="addSp modSp mod">
        <pc:chgData name="siri pattem" userId="5cb9b3a290e3eebd" providerId="LiveId" clId="{6A938021-829B-45F2-B18F-9A8935CF31EA}" dt="2026-09-06T03:47:31.890" v="24" actId="207"/>
        <pc:sldMkLst>
          <pc:docMk/>
          <pc:sldMk cId="3050428798" sldId="268"/>
        </pc:sldMkLst>
        <pc:spChg chg="mod">
          <ac:chgData name="siri pattem" userId="5cb9b3a290e3eebd" providerId="LiveId" clId="{6A938021-829B-45F2-B18F-9A8935CF31EA}" dt="2026-09-06T03:46:22.697" v="14" actId="1076"/>
          <ac:spMkLst>
            <pc:docMk/>
            <pc:sldMk cId="3050428798" sldId="268"/>
            <ac:spMk id="9" creationId="{774B4E99-5804-5F58-CC71-872974F38D22}"/>
          </ac:spMkLst>
        </pc:spChg>
        <pc:spChg chg="add mod">
          <ac:chgData name="siri pattem" userId="5cb9b3a290e3eebd" providerId="LiveId" clId="{6A938021-829B-45F2-B18F-9A8935CF31EA}" dt="2026-09-06T03:47:31.890" v="24" actId="207"/>
          <ac:spMkLst>
            <pc:docMk/>
            <pc:sldMk cId="3050428798" sldId="268"/>
            <ac:spMk id="11" creationId="{91AF16DB-5B22-3A7A-9E64-AB705DB9CC3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308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B43D-9D46-B6E3-0F19-A95DCB6DC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EC7F4-0BD4-61FB-84F0-1155F1D1B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D0A82-D7A4-078B-65A6-5ACEE8E8A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BB808F-EC6F-7EA7-F98B-F9A5EAA4118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458414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A9837-D677-86F2-A761-49B69BCA98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2610C8-429A-E121-528B-7CA0898177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9D5D56-F115-63A2-A90F-2A044BE3E36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E6F9DCD-20C4-5E12-3C85-2400A8C889F7}"/>
              </a:ext>
            </a:extLst>
          </p:cNvPr>
          <p:cNvSpPr>
            <a:spLocks noGrp="1"/>
          </p:cNvSpPr>
          <p:nvPr>
            <p:ph type="ftr" sz="quarter" idx="11"/>
          </p:nvPr>
        </p:nvSpPr>
        <p:spPr/>
        <p:txBody>
          <a:bodyPr/>
          <a:lstStyle/>
          <a:p>
            <a:r>
              <a:rPr lang="en-IN"/>
              <a:t>Page</a:t>
            </a:r>
          </a:p>
        </p:txBody>
      </p:sp>
      <p:sp>
        <p:nvSpPr>
          <p:cNvPr id="6" name="Slide Number Placeholder 5">
            <a:extLst>
              <a:ext uri="{FF2B5EF4-FFF2-40B4-BE49-F238E27FC236}">
                <a16:creationId xmlns:a16="http://schemas.microsoft.com/office/drawing/2014/main" id="{503F47E1-4473-AF36-8F63-CD2839F8D367}"/>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2123680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DDC2-4B32-2A94-5334-C5F8FC2B29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3DE13A-435F-8C09-9D3C-A94045BCD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185402-4C72-4B72-BC9F-D631A7685D6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1E637C5-9057-57B0-06F4-568FD22CFB2E}"/>
              </a:ext>
            </a:extLst>
          </p:cNvPr>
          <p:cNvSpPr>
            <a:spLocks noGrp="1"/>
          </p:cNvSpPr>
          <p:nvPr>
            <p:ph type="ftr" sz="quarter" idx="11"/>
          </p:nvPr>
        </p:nvSpPr>
        <p:spPr/>
        <p:txBody>
          <a:bodyPr/>
          <a:lstStyle/>
          <a:p>
            <a:r>
              <a:rPr lang="en-IN"/>
              <a:t>Page</a:t>
            </a:r>
          </a:p>
        </p:txBody>
      </p:sp>
      <p:sp>
        <p:nvSpPr>
          <p:cNvPr id="6" name="Slide Number Placeholder 5">
            <a:extLst>
              <a:ext uri="{FF2B5EF4-FFF2-40B4-BE49-F238E27FC236}">
                <a16:creationId xmlns:a16="http://schemas.microsoft.com/office/drawing/2014/main" id="{B5BBBF9C-07BD-A058-3C6B-056693AC536C}"/>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466628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B285A-6AC9-A582-6D35-1815D88D8C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B108FF-CB88-1F4D-9191-4E0F07432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B3D973-82BA-AA5E-D116-54530F70863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0155DC-AB80-DB4A-508B-73FFCFEE1DA1}"/>
              </a:ext>
            </a:extLst>
          </p:cNvPr>
          <p:cNvSpPr>
            <a:spLocks noGrp="1"/>
          </p:cNvSpPr>
          <p:nvPr>
            <p:ph type="ftr" sz="quarter" idx="11"/>
          </p:nvPr>
        </p:nvSpPr>
        <p:spPr/>
        <p:txBody>
          <a:bodyPr/>
          <a:lstStyle/>
          <a:p>
            <a:r>
              <a:rPr lang="en-IN"/>
              <a:t>Page</a:t>
            </a:r>
          </a:p>
        </p:txBody>
      </p:sp>
      <p:sp>
        <p:nvSpPr>
          <p:cNvPr id="6" name="Slide Number Placeholder 5">
            <a:extLst>
              <a:ext uri="{FF2B5EF4-FFF2-40B4-BE49-F238E27FC236}">
                <a16:creationId xmlns:a16="http://schemas.microsoft.com/office/drawing/2014/main" id="{A1D2D262-24AE-7C1B-D221-1F8EBB3C7E80}"/>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2912113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B377-F2A3-835B-E141-5185BDCA03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C6E349-1660-582C-58E3-871C0D69CC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30DC47-1EC4-55B8-708F-2C69C0E72C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D610AB-2FAC-7BB8-BC20-D979913837F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3E00E3F-2B2F-E9FE-53F8-C5F5CF1F236C}"/>
              </a:ext>
            </a:extLst>
          </p:cNvPr>
          <p:cNvSpPr>
            <a:spLocks noGrp="1"/>
          </p:cNvSpPr>
          <p:nvPr>
            <p:ph type="ftr" sz="quarter" idx="11"/>
          </p:nvPr>
        </p:nvSpPr>
        <p:spPr/>
        <p:txBody>
          <a:bodyPr/>
          <a:lstStyle/>
          <a:p>
            <a:r>
              <a:rPr lang="en-IN"/>
              <a:t>Page</a:t>
            </a:r>
          </a:p>
        </p:txBody>
      </p:sp>
      <p:sp>
        <p:nvSpPr>
          <p:cNvPr id="7" name="Slide Number Placeholder 6">
            <a:extLst>
              <a:ext uri="{FF2B5EF4-FFF2-40B4-BE49-F238E27FC236}">
                <a16:creationId xmlns:a16="http://schemas.microsoft.com/office/drawing/2014/main" id="{A6490DF8-E2D8-73EC-2BDF-5E3D1957774E}"/>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28925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5419F-A52D-AC55-667E-22822DA5B8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0E785C-BCFC-B1F7-3549-0C99C1D4BA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C6890-AA39-449C-83E8-256F2BC111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43557A-43FD-5952-DB70-CC8510A2CC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6444D0-E474-7BC1-996C-FC8CAC0428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6BEF82-FB3C-FEF7-01A6-7CE94D80969B}"/>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B65A874-C279-AA00-4272-04B8F107DB5C}"/>
              </a:ext>
            </a:extLst>
          </p:cNvPr>
          <p:cNvSpPr>
            <a:spLocks noGrp="1"/>
          </p:cNvSpPr>
          <p:nvPr>
            <p:ph type="ftr" sz="quarter" idx="11"/>
          </p:nvPr>
        </p:nvSpPr>
        <p:spPr/>
        <p:txBody>
          <a:bodyPr/>
          <a:lstStyle/>
          <a:p>
            <a:r>
              <a:rPr lang="en-IN"/>
              <a:t>Page</a:t>
            </a:r>
          </a:p>
        </p:txBody>
      </p:sp>
      <p:sp>
        <p:nvSpPr>
          <p:cNvPr id="9" name="Slide Number Placeholder 8">
            <a:extLst>
              <a:ext uri="{FF2B5EF4-FFF2-40B4-BE49-F238E27FC236}">
                <a16:creationId xmlns:a16="http://schemas.microsoft.com/office/drawing/2014/main" id="{F0C0EA9C-17DC-F971-62A5-1427B87379F8}"/>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342004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D3A9F-A527-5EEC-5B7E-0E8F5F5EF8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CED377-B8AF-C718-0DAE-B9FF904C7B2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2E56CE9F-4CE9-E40D-E5B8-8D2FD95C49FD}"/>
              </a:ext>
            </a:extLst>
          </p:cNvPr>
          <p:cNvSpPr>
            <a:spLocks noGrp="1"/>
          </p:cNvSpPr>
          <p:nvPr>
            <p:ph type="ftr" sz="quarter" idx="11"/>
          </p:nvPr>
        </p:nvSpPr>
        <p:spPr/>
        <p:txBody>
          <a:bodyPr/>
          <a:lstStyle/>
          <a:p>
            <a:r>
              <a:rPr lang="en-IN"/>
              <a:t>Page</a:t>
            </a:r>
          </a:p>
        </p:txBody>
      </p:sp>
      <p:sp>
        <p:nvSpPr>
          <p:cNvPr id="5" name="Slide Number Placeholder 4">
            <a:extLst>
              <a:ext uri="{FF2B5EF4-FFF2-40B4-BE49-F238E27FC236}">
                <a16:creationId xmlns:a16="http://schemas.microsoft.com/office/drawing/2014/main" id="{031A719E-AA5D-AED6-D188-F992195ED6B3}"/>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2171547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445200-92D0-84B8-2CA7-1401251F61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BA3EC7D-288D-8EE8-9ABA-3C09A0151BD5}"/>
              </a:ext>
            </a:extLst>
          </p:cNvPr>
          <p:cNvSpPr>
            <a:spLocks noGrp="1"/>
          </p:cNvSpPr>
          <p:nvPr>
            <p:ph type="ftr" sz="quarter" idx="11"/>
          </p:nvPr>
        </p:nvSpPr>
        <p:spPr/>
        <p:txBody>
          <a:bodyPr/>
          <a:lstStyle/>
          <a:p>
            <a:r>
              <a:rPr lang="en-IN"/>
              <a:t>Page</a:t>
            </a:r>
          </a:p>
        </p:txBody>
      </p:sp>
      <p:sp>
        <p:nvSpPr>
          <p:cNvPr id="4" name="Slide Number Placeholder 3">
            <a:extLst>
              <a:ext uri="{FF2B5EF4-FFF2-40B4-BE49-F238E27FC236}">
                <a16:creationId xmlns:a16="http://schemas.microsoft.com/office/drawing/2014/main" id="{F5DA27E8-B859-F437-F287-0AFEA7F29CC7}"/>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713039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239C-1C80-EA91-5979-C308EF8DA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72FC49-22FF-D749-0C1E-770C53C21E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450823-F73A-446D-0883-C1D178BE6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5D8652-7C53-361D-3EC1-7911182AA04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37F31BD-2B7C-8832-AA86-0D51AA46812F}"/>
              </a:ext>
            </a:extLst>
          </p:cNvPr>
          <p:cNvSpPr>
            <a:spLocks noGrp="1"/>
          </p:cNvSpPr>
          <p:nvPr>
            <p:ph type="ftr" sz="quarter" idx="11"/>
          </p:nvPr>
        </p:nvSpPr>
        <p:spPr/>
        <p:txBody>
          <a:bodyPr/>
          <a:lstStyle/>
          <a:p>
            <a:r>
              <a:rPr lang="en-IN"/>
              <a:t>Page</a:t>
            </a:r>
          </a:p>
        </p:txBody>
      </p:sp>
      <p:sp>
        <p:nvSpPr>
          <p:cNvPr id="7" name="Slide Number Placeholder 6">
            <a:extLst>
              <a:ext uri="{FF2B5EF4-FFF2-40B4-BE49-F238E27FC236}">
                <a16:creationId xmlns:a16="http://schemas.microsoft.com/office/drawing/2014/main" id="{93A86369-2E01-1E98-DE6B-22460F5227F1}"/>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3541113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85C18-50C3-1ABC-F903-BC01B4D7E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658BB9-A5AB-A6CC-A294-C0B2BE807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EFFE57-E82C-3D88-2102-AC86B71F6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49541A-3EB9-1F79-AA26-80E66FAE8B1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F92E272-FEA5-B12C-4BE0-499C95E450AF}"/>
              </a:ext>
            </a:extLst>
          </p:cNvPr>
          <p:cNvSpPr>
            <a:spLocks noGrp="1"/>
          </p:cNvSpPr>
          <p:nvPr>
            <p:ph type="ftr" sz="quarter" idx="11"/>
          </p:nvPr>
        </p:nvSpPr>
        <p:spPr/>
        <p:txBody>
          <a:bodyPr/>
          <a:lstStyle/>
          <a:p>
            <a:r>
              <a:rPr lang="en-IN"/>
              <a:t>Page</a:t>
            </a:r>
          </a:p>
        </p:txBody>
      </p:sp>
      <p:sp>
        <p:nvSpPr>
          <p:cNvPr id="7" name="Slide Number Placeholder 6">
            <a:extLst>
              <a:ext uri="{FF2B5EF4-FFF2-40B4-BE49-F238E27FC236}">
                <a16:creationId xmlns:a16="http://schemas.microsoft.com/office/drawing/2014/main" id="{85F0848C-8911-DDC0-87E4-69D20D7145D2}"/>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570893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D7B17-F3B8-89A3-FB88-BB92FAF2AE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EF2202-923A-349F-DF92-1C8A313D63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617669-821C-9CD3-7E44-F5519EA019F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6BFD747-A466-AD31-6C56-61E7F1D1A34A}"/>
              </a:ext>
            </a:extLst>
          </p:cNvPr>
          <p:cNvSpPr>
            <a:spLocks noGrp="1"/>
          </p:cNvSpPr>
          <p:nvPr>
            <p:ph type="ftr" sz="quarter" idx="11"/>
          </p:nvPr>
        </p:nvSpPr>
        <p:spPr/>
        <p:txBody>
          <a:bodyPr/>
          <a:lstStyle/>
          <a:p>
            <a:r>
              <a:rPr lang="en-IN"/>
              <a:t>Page</a:t>
            </a:r>
          </a:p>
        </p:txBody>
      </p:sp>
      <p:sp>
        <p:nvSpPr>
          <p:cNvPr id="6" name="Slide Number Placeholder 5">
            <a:extLst>
              <a:ext uri="{FF2B5EF4-FFF2-40B4-BE49-F238E27FC236}">
                <a16:creationId xmlns:a16="http://schemas.microsoft.com/office/drawing/2014/main" id="{357E0190-4C58-6A2B-C4BC-4014B68DDD5B}"/>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21282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83A0FD-8722-79F1-39F7-381CDFB64A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4BD803-E20C-16CB-C60A-85A8C0D69B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E20932-4C58-413D-EFC5-E325464E3A2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D855B41-1349-8549-3E7C-6CBCE3949726}"/>
              </a:ext>
            </a:extLst>
          </p:cNvPr>
          <p:cNvSpPr>
            <a:spLocks noGrp="1"/>
          </p:cNvSpPr>
          <p:nvPr>
            <p:ph type="ftr" sz="quarter" idx="11"/>
          </p:nvPr>
        </p:nvSpPr>
        <p:spPr/>
        <p:txBody>
          <a:bodyPr/>
          <a:lstStyle/>
          <a:p>
            <a:r>
              <a:rPr lang="en-IN"/>
              <a:t>Page</a:t>
            </a:r>
          </a:p>
        </p:txBody>
      </p:sp>
      <p:sp>
        <p:nvSpPr>
          <p:cNvPr id="6" name="Slide Number Placeholder 5">
            <a:extLst>
              <a:ext uri="{FF2B5EF4-FFF2-40B4-BE49-F238E27FC236}">
                <a16:creationId xmlns:a16="http://schemas.microsoft.com/office/drawing/2014/main" id="{FD4CFFB4-C4A3-0E9F-50AF-A35E1EC451DC}"/>
              </a:ext>
            </a:extLst>
          </p:cNvPr>
          <p:cNvSpPr>
            <a:spLocks noGrp="1"/>
          </p:cNvSpPr>
          <p:nvPr>
            <p:ph type="sldNum" sz="quarter" idx="12"/>
          </p:nvPr>
        </p:nvSpPr>
        <p:spPr/>
        <p:txBody>
          <a:bodyPr/>
          <a:lstStyle/>
          <a:p>
            <a:fld id="{48920A31-2523-4F91-B50F-8BBEBB0BB126}" type="slidenum">
              <a:rPr lang="en-IN" smtClean="0"/>
              <a:t>‹#›</a:t>
            </a:fld>
            <a:endParaRPr lang="en-IN"/>
          </a:p>
        </p:txBody>
      </p:sp>
    </p:spTree>
    <p:extLst>
      <p:ext uri="{BB962C8B-B14F-4D97-AF65-F5344CB8AC3E}">
        <p14:creationId xmlns:p14="http://schemas.microsoft.com/office/powerpoint/2010/main" val="401213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67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296683-8622-AED1-046A-E97B3E726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A820A5-C64B-B3DB-BBDA-C6813C1E1C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5B7BFB-C6C0-191D-4D34-A01774E345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660FACBB-7B31-DF47-0A3F-8C1D5BF12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Page</a:t>
            </a:r>
          </a:p>
        </p:txBody>
      </p:sp>
      <p:sp>
        <p:nvSpPr>
          <p:cNvPr id="6" name="Slide Number Placeholder 5">
            <a:extLst>
              <a:ext uri="{FF2B5EF4-FFF2-40B4-BE49-F238E27FC236}">
                <a16:creationId xmlns:a16="http://schemas.microsoft.com/office/drawing/2014/main" id="{FD032879-E7E1-9C00-C9C6-8C605B9858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920A31-2523-4F91-B50F-8BBEBB0BB126}" type="slidenum">
              <a:rPr lang="en-IN" smtClean="0"/>
              <a:t>‹#›</a:t>
            </a:fld>
            <a:endParaRPr lang="en-IN"/>
          </a:p>
        </p:txBody>
      </p:sp>
    </p:spTree>
    <p:extLst>
      <p:ext uri="{BB962C8B-B14F-4D97-AF65-F5344CB8AC3E}">
        <p14:creationId xmlns:p14="http://schemas.microsoft.com/office/powerpoint/2010/main" val="322694846"/>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 id="214748393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txBody>
          <a:bodyPr/>
          <a:lstStyle/>
          <a:p>
            <a:endParaRPr lang="en-IN" dirty="0"/>
          </a:p>
        </p:txBody>
      </p:sp>
      <p:sp>
        <p:nvSpPr>
          <p:cNvPr id="3" name="Text 1"/>
          <p:cNvSpPr txBox="1"/>
          <p:nvPr/>
        </p:nvSpPr>
        <p:spPr>
          <a:xfrm>
            <a:off x="629920" y="840998"/>
            <a:ext cx="10725912"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Global Economic Indicators</a:t>
            </a:r>
            <a:endParaRPr lang="en-US" sz="4400" dirty="0"/>
          </a:p>
        </p:txBody>
      </p:sp>
      <p:sp>
        <p:nvSpPr>
          <p:cNvPr id="4" name="Text 2"/>
          <p:cNvSpPr txBox="1"/>
          <p:nvPr/>
        </p:nvSpPr>
        <p:spPr>
          <a:xfrm>
            <a:off x="853440" y="1792099"/>
            <a:ext cx="10725912" cy="548640"/>
          </a:xfrm>
          <a:prstGeom prst="rect">
            <a:avLst/>
          </a:prstGeom>
          <a:noFill/>
          <a:ln/>
        </p:spPr>
        <p:txBody>
          <a:bodyPr wrap="square" lIns="0" tIns="0" rIns="0" bIns="0" rtlCol="0" anchor="ctr"/>
          <a:lstStyle/>
          <a:p>
            <a:pPr marL="0" indent="0">
              <a:buNone/>
            </a:pPr>
            <a:r>
              <a:rPr lang="en-US" sz="1800" dirty="0">
                <a:solidFill>
                  <a:srgbClr val="F2F6F8"/>
                </a:solidFill>
                <a:latin typeface="Calibri" pitchFamily="34" charset="0"/>
                <a:ea typeface="Calibri" pitchFamily="34" charset="-122"/>
                <a:cs typeface="Calibri" pitchFamily="34" charset="-120"/>
              </a:rPr>
              <a:t>An Exploratory Data Analysis of World Bank &amp; IMF Country Indicators</a:t>
            </a:r>
            <a:endParaRPr lang="en-US" sz="1800" dirty="0"/>
          </a:p>
        </p:txBody>
      </p:sp>
      <p:sp>
        <p:nvSpPr>
          <p:cNvPr id="5" name="Shape 3"/>
          <p:cNvSpPr/>
          <p:nvPr/>
        </p:nvSpPr>
        <p:spPr>
          <a:xfrm>
            <a:off x="853440" y="2514600"/>
            <a:ext cx="2011680" cy="0"/>
          </a:xfrm>
          <a:prstGeom prst="line">
            <a:avLst/>
          </a:prstGeom>
          <a:noFill/>
          <a:ln w="38100">
            <a:solidFill>
              <a:srgbClr val="E8A33D"/>
            </a:solidFill>
            <a:prstDash val="solid"/>
          </a:ln>
        </p:spPr>
        <p:txBody>
          <a:bodyPr/>
          <a:lstStyle/>
          <a:p>
            <a:endParaRPr/>
          </a:p>
        </p:txBody>
      </p:sp>
      <p:sp>
        <p:nvSpPr>
          <p:cNvPr id="6" name="Text 4"/>
          <p:cNvSpPr txBox="1"/>
          <p:nvPr/>
        </p:nvSpPr>
        <p:spPr>
          <a:xfrm>
            <a:off x="853440" y="2688462"/>
            <a:ext cx="7315200" cy="36576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200+ countries  •  81 indicators  •  2000–2025</a:t>
            </a:r>
            <a:endParaRPr lang="en-US" sz="1400" dirty="0"/>
          </a:p>
        </p:txBody>
      </p:sp>
      <p:sp>
        <p:nvSpPr>
          <p:cNvPr id="7" name="Text 5"/>
          <p:cNvSpPr txBox="1"/>
          <p:nvPr/>
        </p:nvSpPr>
        <p:spPr>
          <a:xfrm>
            <a:off x="731520" y="6126480"/>
            <a:ext cx="7315200" cy="36576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Training Project  |  EDA Submission</a:t>
            </a:r>
            <a:endParaRPr lang="en-US" sz="1200" dirty="0"/>
          </a:p>
        </p:txBody>
      </p:sp>
      <p:sp>
        <p:nvSpPr>
          <p:cNvPr id="9" name="Text 5">
            <a:extLst>
              <a:ext uri="{FF2B5EF4-FFF2-40B4-BE49-F238E27FC236}">
                <a16:creationId xmlns:a16="http://schemas.microsoft.com/office/drawing/2014/main" id="{5BA8A032-3947-BDAF-8B08-C11FD7C2BFB1}"/>
              </a:ext>
            </a:extLst>
          </p:cNvPr>
          <p:cNvSpPr txBox="1"/>
          <p:nvPr/>
        </p:nvSpPr>
        <p:spPr>
          <a:xfrm>
            <a:off x="844078" y="3752072"/>
            <a:ext cx="7315200" cy="365760"/>
          </a:xfrm>
          <a:prstGeom prst="rect">
            <a:avLst/>
          </a:prstGeom>
          <a:noFill/>
          <a:ln/>
        </p:spPr>
        <p:txBody>
          <a:bodyPr wrap="square" lIns="0" tIns="0" rIns="0" bIns="0" rtlCol="0" anchor="ctr"/>
          <a:lstStyle/>
          <a:p>
            <a:pPr marL="0" indent="0">
              <a:buNone/>
            </a:pPr>
            <a:r>
              <a:rPr lang="en-US" sz="1400" b="1" dirty="0">
                <a:solidFill>
                  <a:srgbClr val="9FB3C8"/>
                </a:solidFill>
                <a:latin typeface="Calibri" pitchFamily="34" charset="0"/>
                <a:ea typeface="Calibri" pitchFamily="34" charset="-122"/>
                <a:cs typeface="Calibri" pitchFamily="34" charset="-120"/>
              </a:rPr>
              <a:t> </a:t>
            </a:r>
            <a:r>
              <a:rPr lang="en-US" sz="1600" b="1" dirty="0">
                <a:solidFill>
                  <a:srgbClr val="9FB3C8"/>
                </a:solidFill>
                <a:latin typeface="Calibri" pitchFamily="34" charset="0"/>
                <a:ea typeface="Calibri" pitchFamily="34" charset="-122"/>
                <a:cs typeface="Calibri" pitchFamily="34" charset="-120"/>
              </a:rPr>
              <a:t>Group  No  :  14</a:t>
            </a:r>
          </a:p>
          <a:p>
            <a:pPr marL="0" indent="0">
              <a:buNone/>
            </a:pPr>
            <a:r>
              <a:rPr lang="en-US" sz="1400" b="1" dirty="0">
                <a:solidFill>
                  <a:srgbClr val="9FB3C8"/>
                </a:solidFill>
                <a:latin typeface="Calibri" pitchFamily="34" charset="0"/>
                <a:ea typeface="Calibri" pitchFamily="34" charset="-122"/>
                <a:cs typeface="Calibri" pitchFamily="34" charset="-120"/>
              </a:rPr>
              <a:t>           </a:t>
            </a:r>
            <a:r>
              <a:rPr lang="en-US" sz="1600" b="1" dirty="0">
                <a:solidFill>
                  <a:srgbClr val="9FB3C8"/>
                </a:solidFill>
                <a:latin typeface="Calibri" pitchFamily="34" charset="0"/>
                <a:ea typeface="Calibri" pitchFamily="34" charset="-122"/>
                <a:cs typeface="Calibri" pitchFamily="34" charset="-120"/>
              </a:rPr>
              <a:t>  </a:t>
            </a:r>
            <a:endParaRPr lang="en-US" sz="1600" b="1" dirty="0"/>
          </a:p>
        </p:txBody>
      </p:sp>
      <p:sp>
        <p:nvSpPr>
          <p:cNvPr id="12" name="Text 18">
            <a:extLst>
              <a:ext uri="{FF2B5EF4-FFF2-40B4-BE49-F238E27FC236}">
                <a16:creationId xmlns:a16="http://schemas.microsoft.com/office/drawing/2014/main" id="{C74EAC89-23A4-9E93-C6C1-40CCB8858B15}"/>
              </a:ext>
            </a:extLst>
          </p:cNvPr>
          <p:cNvSpPr txBox="1"/>
          <p:nvPr/>
        </p:nvSpPr>
        <p:spPr>
          <a:xfrm>
            <a:off x="853440" y="3133404"/>
            <a:ext cx="7315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i="1" dirty="0">
                <a:solidFill>
                  <a:srgbClr val="C9D6E3"/>
                </a:solidFill>
                <a:latin typeface="Cambria" pitchFamily="34" charset="0"/>
                <a:ea typeface="Cambria" pitchFamily="34" charset="-122"/>
                <a:cs typeface="Cambria" pitchFamily="34" charset="-120"/>
              </a:rPr>
              <a:t>“</a:t>
            </a:r>
            <a:r>
              <a:rPr lang="en-US" i="1" dirty="0">
                <a:solidFill>
                  <a:srgbClr val="C9D6E3"/>
                </a:solidFill>
                <a:latin typeface="Cambria" pitchFamily="34" charset="0"/>
                <a:ea typeface="Cambria" pitchFamily="34" charset="-122"/>
                <a:cs typeface="Cambria" pitchFamily="34" charset="-120"/>
              </a:rPr>
              <a:t>Where you’re born still predicts how you’ll live</a:t>
            </a:r>
            <a:r>
              <a:rPr lang="en-US" sz="1600" i="1" dirty="0">
                <a:solidFill>
                  <a:srgbClr val="C9D6E3"/>
                </a:solidFill>
                <a:latin typeface="Cambria" pitchFamily="34" charset="0"/>
                <a:ea typeface="Cambria" pitchFamily="34" charset="-122"/>
                <a:cs typeface="Cambria" pitchFamily="34" charset="-120"/>
              </a:rPr>
              <a:t>”</a:t>
            </a:r>
            <a:endParaRPr lang="en-US" sz="1600" dirty="0"/>
          </a:p>
        </p:txBody>
      </p:sp>
      <p:pic>
        <p:nvPicPr>
          <p:cNvPr id="13" name="Picture 12" descr="globe_transparent.png"/>
          <p:cNvPicPr>
            <a:picLocks noChangeAspect="1"/>
          </p:cNvPicPr>
          <p:nvPr/>
        </p:nvPicPr>
        <p:blipFill>
          <a:blip r:embed="rId3"/>
          <a:stretch>
            <a:fillRect/>
          </a:stretch>
        </p:blipFill>
        <p:spPr>
          <a:xfrm>
            <a:off x="7635240" y="1234440"/>
            <a:ext cx="4160520" cy="4160520"/>
          </a:xfrm>
          <a:prstGeom prst="rect">
            <a:avLst/>
          </a:prstGeom>
        </p:spPr>
      </p:pic>
      <p:sp>
        <p:nvSpPr>
          <p:cNvPr id="14" name="TextBox 13"/>
          <p:cNvSpPr txBox="1"/>
          <p:nvPr/>
        </p:nvSpPr>
        <p:spPr>
          <a:xfrm>
            <a:off x="853409" y="4175605"/>
            <a:ext cx="7315200" cy="365760"/>
          </a:xfrm>
          <a:prstGeom prst="rect">
            <a:avLst/>
          </a:prstGeom>
          <a:noFill/>
        </p:spPr>
        <p:txBody>
          <a:bodyPr wrap="square" lIns="0" tIns="0" rIns="0" bIns="0">
            <a:noAutofit/>
          </a:bodyPr>
          <a:lstStyle/>
          <a:p>
            <a:pPr algn="l"/>
            <a:endParaRPr sz="1200" dirty="0">
              <a:solidFill>
                <a:srgbClr val="9FB3C8"/>
              </a:solidFill>
              <a:latin typeface="Calibri"/>
            </a:endParaRPr>
          </a:p>
        </p:txBody>
      </p:sp>
      <p:sp>
        <p:nvSpPr>
          <p:cNvPr id="11" name="Text 5">
            <a:extLst>
              <a:ext uri="{FF2B5EF4-FFF2-40B4-BE49-F238E27FC236}">
                <a16:creationId xmlns:a16="http://schemas.microsoft.com/office/drawing/2014/main" id="{DB983F95-CC60-9CC3-E975-67D3ECD54236}"/>
              </a:ext>
            </a:extLst>
          </p:cNvPr>
          <p:cNvSpPr txBox="1"/>
          <p:nvPr/>
        </p:nvSpPr>
        <p:spPr>
          <a:xfrm>
            <a:off x="1592580" y="4869026"/>
            <a:ext cx="7315200" cy="365760"/>
          </a:xfrm>
          <a:prstGeom prst="rect">
            <a:avLst/>
          </a:prstGeom>
          <a:noFill/>
          <a:ln/>
        </p:spPr>
        <p:txBody>
          <a:bodyPr wrap="square" lIns="0" tIns="0" rIns="0" bIns="0" rtlCol="0" anchor="ctr"/>
          <a:lstStyle/>
          <a:p>
            <a:pPr marL="0" indent="0">
              <a:buNone/>
            </a:pPr>
            <a:r>
              <a:rPr lang="en-US" sz="1600" b="1" dirty="0">
                <a:solidFill>
                  <a:srgbClr val="9FB3C8"/>
                </a:solidFill>
                <a:latin typeface="Calibri" pitchFamily="34" charset="0"/>
                <a:ea typeface="Calibri" pitchFamily="34" charset="-122"/>
                <a:cs typeface="Calibri" pitchFamily="34" charset="-120"/>
              </a:rPr>
              <a:t> P . Siri</a:t>
            </a:r>
          </a:p>
          <a:p>
            <a:pPr marL="0" indent="0">
              <a:buNone/>
            </a:pPr>
            <a:r>
              <a:rPr lang="en-US" sz="1600" b="1" dirty="0">
                <a:solidFill>
                  <a:srgbClr val="9FB3C8"/>
                </a:solidFill>
                <a:latin typeface="Calibri" pitchFamily="34" charset="0"/>
                <a:ea typeface="Calibri" pitchFamily="34" charset="-122"/>
                <a:cs typeface="Calibri" pitchFamily="34" charset="-120"/>
              </a:rPr>
              <a:t>U . Harini</a:t>
            </a:r>
          </a:p>
          <a:p>
            <a:pPr marL="0" indent="0">
              <a:buNone/>
            </a:pPr>
            <a:r>
              <a:rPr lang="en-US" sz="1600" b="1" dirty="0">
                <a:solidFill>
                  <a:srgbClr val="9FB3C8"/>
                </a:solidFill>
                <a:latin typeface="Calibri" pitchFamily="34" charset="0"/>
                <a:ea typeface="Calibri" pitchFamily="34" charset="-122"/>
                <a:cs typeface="Calibri" pitchFamily="34" charset="-120"/>
              </a:rPr>
              <a:t>P . Kiranmayi</a:t>
            </a:r>
          </a:p>
          <a:p>
            <a:pPr marL="0" indent="0">
              <a:buNone/>
            </a:pPr>
            <a:r>
              <a:rPr lang="en-US" sz="1600" b="1" dirty="0">
                <a:solidFill>
                  <a:srgbClr val="9FB3C8"/>
                </a:solidFill>
                <a:latin typeface="Calibri" pitchFamily="34" charset="0"/>
                <a:ea typeface="Calibri" pitchFamily="34" charset="-122"/>
                <a:cs typeface="Calibri" pitchFamily="34" charset="-120"/>
              </a:rPr>
              <a:t>G . Sumithra</a:t>
            </a:r>
          </a:p>
        </p:txBody>
      </p:sp>
      <p:sp>
        <p:nvSpPr>
          <p:cNvPr id="16" name="Text 5">
            <a:extLst>
              <a:ext uri="{FF2B5EF4-FFF2-40B4-BE49-F238E27FC236}">
                <a16:creationId xmlns:a16="http://schemas.microsoft.com/office/drawing/2014/main" id="{B025E415-15C1-7FC8-FE00-0C8A371FD29D}"/>
              </a:ext>
            </a:extLst>
          </p:cNvPr>
          <p:cNvSpPr txBox="1"/>
          <p:nvPr/>
        </p:nvSpPr>
        <p:spPr>
          <a:xfrm>
            <a:off x="1019556" y="4105574"/>
            <a:ext cx="7315200" cy="365760"/>
          </a:xfrm>
          <a:prstGeom prst="rect">
            <a:avLst/>
          </a:prstGeom>
          <a:noFill/>
          <a:ln/>
        </p:spPr>
        <p:txBody>
          <a:bodyPr wrap="square" lIns="0" tIns="0" rIns="0" bIns="0" rtlCol="0" anchor="ctr"/>
          <a:lstStyle/>
          <a:p>
            <a:pPr marL="0" indent="0">
              <a:buNone/>
            </a:pPr>
            <a:r>
              <a:rPr lang="en-US" sz="1400" b="1" dirty="0">
                <a:solidFill>
                  <a:srgbClr val="9FB3C8"/>
                </a:solidFill>
                <a:latin typeface="Calibri" pitchFamily="34" charset="0"/>
                <a:ea typeface="Calibri" pitchFamily="34" charset="-122"/>
                <a:cs typeface="Calibri" pitchFamily="34" charset="-120"/>
              </a:rPr>
              <a:t> </a:t>
            </a:r>
            <a:r>
              <a:rPr lang="en-US" sz="1600" b="1" dirty="0">
                <a:solidFill>
                  <a:srgbClr val="9FB3C8"/>
                </a:solidFill>
                <a:latin typeface="Calibri" pitchFamily="34" charset="0"/>
                <a:ea typeface="Calibri" pitchFamily="34" charset="-122"/>
                <a:cs typeface="Calibri" pitchFamily="34" charset="-120"/>
              </a:rPr>
              <a:t>MINDFORGE  </a:t>
            </a:r>
            <a:endParaRPr lang="en-US" sz="16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Project Overview</a:t>
            </a:r>
            <a:endParaRPr lang="en-US" sz="3200" dirty="0"/>
          </a:p>
        </p:txBody>
      </p:sp>
      <p:sp>
        <p:nvSpPr>
          <p:cNvPr id="3" name="Shape 1"/>
          <p:cNvSpPr/>
          <p:nvPr/>
        </p:nvSpPr>
        <p:spPr>
          <a:xfrm>
            <a:off x="548640" y="1600200"/>
            <a:ext cx="457200" cy="457200"/>
          </a:xfrm>
          <a:prstGeom prst="ellipse">
            <a:avLst/>
          </a:prstGeom>
          <a:solidFill>
            <a:srgbClr val="1C7293"/>
          </a:solidFill>
          <a:ln/>
        </p:spPr>
      </p:sp>
      <p:sp>
        <p:nvSpPr>
          <p:cNvPr id="4" name="Text 2"/>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34440" y="1554480"/>
            <a:ext cx="36576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Objective</a:t>
            </a:r>
            <a:endParaRPr lang="en-US" sz="1800" dirty="0"/>
          </a:p>
        </p:txBody>
      </p:sp>
      <p:sp>
        <p:nvSpPr>
          <p:cNvPr id="6" name="Text 4"/>
          <p:cNvSpPr txBox="1"/>
          <p:nvPr/>
        </p:nvSpPr>
        <p:spPr>
          <a:xfrm>
            <a:off x="1234440" y="1938528"/>
            <a:ext cx="9601200" cy="640080"/>
          </a:xfrm>
          <a:prstGeom prst="rect">
            <a:avLst/>
          </a:prstGeom>
          <a:noFill/>
          <a:ln/>
        </p:spPr>
        <p:txBody>
          <a:bodyPr wrap="square" lIns="0" tIns="0" rIns="0" bIns="0" rtlCol="0" anchor="ctr"/>
          <a:lstStyle/>
          <a:p>
            <a:r>
              <a:rPr lang="en-IN" sz="1400" dirty="0"/>
              <a:t>To explore and </a:t>
            </a:r>
            <a:r>
              <a:rPr lang="en-IN" sz="1400" dirty="0" err="1"/>
              <a:t>analyze</a:t>
            </a:r>
            <a:r>
              <a:rPr lang="en-IN" sz="1400" dirty="0"/>
              <a:t> global economic and demographic indicators — including poverty, GDP, and life expectancy — across 200+ countries, in order to identify patterns and relationships between income levels, regions, and quality-of-life outcomes</a:t>
            </a: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548640" y="3017520"/>
            <a:ext cx="457200" cy="457200"/>
          </a:xfrm>
          <a:prstGeom prst="ellipse">
            <a:avLst/>
          </a:prstGeom>
          <a:solidFill>
            <a:srgbClr val="1C7293"/>
          </a:solidFill>
          <a:ln/>
        </p:spPr>
      </p:sp>
      <p:sp>
        <p:nvSpPr>
          <p:cNvPr id="8" name="Text 6"/>
          <p:cNvSpPr txBox="1"/>
          <p:nvPr/>
        </p:nvSpPr>
        <p:spPr>
          <a:xfrm>
            <a:off x="548640" y="30175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234440" y="2971800"/>
            <a:ext cx="36576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Scope</a:t>
            </a:r>
            <a:endParaRPr lang="en-US" sz="1800" dirty="0"/>
          </a:p>
        </p:txBody>
      </p:sp>
      <p:sp>
        <p:nvSpPr>
          <p:cNvPr id="10" name="Text 8"/>
          <p:cNvSpPr txBox="1"/>
          <p:nvPr/>
        </p:nvSpPr>
        <p:spPr>
          <a:xfrm>
            <a:off x="1234440" y="3355848"/>
            <a:ext cx="9601200" cy="640080"/>
          </a:xfrm>
          <a:prstGeom prst="rect">
            <a:avLst/>
          </a:prstGeom>
          <a:noFill/>
          <a:ln/>
        </p:spPr>
        <p:txBody>
          <a:bodyPr wrap="square" lIns="0" tIns="0" rIns="0" bIns="0" rtlCol="0" anchor="ctr"/>
          <a:lstStyle/>
          <a:p>
            <a:r>
              <a:rPr lang="en-IN" sz="1400" dirty="0"/>
              <a:t>This project covers country-level data from the World Bank and IMF, spanning the years 2000 to 2025 (with some indicators projected through 2031). It focuses primarily on indicators from the Economy, Demographics, and Social categories — including poverty rate, GDP per capita, and life expectancy — </a:t>
            </a:r>
            <a:r>
              <a:rPr lang="en-IN" sz="1400" dirty="0" err="1"/>
              <a:t>analyzed</a:t>
            </a:r>
            <a:r>
              <a:rPr lang="en-IN" sz="1400" dirty="0"/>
              <a:t> across 200+ countries, grouped by region and income level</a:t>
            </a: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548640" y="4434840"/>
            <a:ext cx="457200" cy="457200"/>
          </a:xfrm>
          <a:prstGeom prst="ellipse">
            <a:avLst/>
          </a:prstGeom>
          <a:solidFill>
            <a:srgbClr val="1C7293"/>
          </a:solidFill>
          <a:ln/>
        </p:spPr>
      </p:sp>
      <p:sp>
        <p:nvSpPr>
          <p:cNvPr id="12" name="Text 10"/>
          <p:cNvSpPr txBox="1"/>
          <p:nvPr/>
        </p:nvSpPr>
        <p:spPr>
          <a:xfrm>
            <a:off x="548640" y="4434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34440" y="4389120"/>
            <a:ext cx="36576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Approach</a:t>
            </a:r>
            <a:endParaRPr lang="en-US" sz="1800" dirty="0"/>
          </a:p>
        </p:txBody>
      </p:sp>
      <p:sp>
        <p:nvSpPr>
          <p:cNvPr id="14" name="Text 12"/>
          <p:cNvSpPr txBox="1"/>
          <p:nvPr/>
        </p:nvSpPr>
        <p:spPr>
          <a:xfrm>
            <a:off x="1234440" y="5093208"/>
            <a:ext cx="9601200" cy="640080"/>
          </a:xfrm>
          <a:prstGeom prst="rect">
            <a:avLst/>
          </a:prstGeom>
          <a:noFill/>
          <a:ln/>
        </p:spPr>
        <p:txBody>
          <a:bodyPr wrap="square" lIns="0" tIns="0" rIns="0" bIns="0" rtlCol="0" anchor="ctr"/>
          <a:lstStyle/>
          <a:p>
            <a:r>
              <a:rPr lang="en-IN" sz="1400" dirty="0"/>
              <a:t> </a:t>
            </a:r>
            <a:r>
              <a:rPr lang="en-IN" sz="1400" b="1" dirty="0">
                <a:solidFill>
                  <a:schemeClr val="accent1">
                    <a:lumMod val="50000"/>
                  </a:schemeClr>
                </a:solidFill>
              </a:rPr>
              <a:t>Three source datasets </a:t>
            </a:r>
            <a:r>
              <a:rPr lang="en-IN" sz="1400" dirty="0"/>
              <a:t>— an indicator dictionary , a country reference table, and the core indicator dataset — were profiled, cleaned, and merged into a single unified table. Missing values were handled deliberately (filled rather than dropped, to preserve full country coverage), and merge keys were validated before combining. The resulting dataset was then explored through multiple visualization types — including bar charts, box plots, choropleth maps, line charts, and scatter plots — to uncover patterns across regions, income levels, and time</a:t>
            </a:r>
            <a:r>
              <a:rPr lang="en-US" sz="1400" dirty="0">
                <a:solidFill>
                  <a:srgbClr val="1A1A1A"/>
                </a:solidFill>
                <a:latin typeface="Calibri" pitchFamily="34" charset="0"/>
                <a:ea typeface="Calibri" pitchFamily="34" charset="-122"/>
                <a:cs typeface="Calibri" pitchFamily="34" charset="-120"/>
              </a:rPr>
              <a:t>.</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a:effectLst/>
      </p:bgPr>
    </p:bg>
    <p:spTree>
      <p:nvGrpSpPr>
        <p:cNvPr id="1" name=""/>
        <p:cNvGrpSpPr/>
        <p:nvPr/>
      </p:nvGrpSpPr>
      <p:grpSpPr>
        <a:xfrm>
          <a:off x="0" y="0"/>
          <a:ext cx="0" cy="0"/>
          <a:chOff x="0" y="0"/>
          <a:chExt cx="0" cy="0"/>
        </a:xfrm>
      </p:grpSpPr>
      <p:sp>
        <p:nvSpPr>
          <p:cNvPr id="2" name="Text 0"/>
          <p:cNvSpPr txBox="1"/>
          <p:nvPr/>
        </p:nvSpPr>
        <p:spPr>
          <a:xfrm>
            <a:off x="538376" y="4064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Sources</a:t>
            </a:r>
            <a:endParaRPr lang="en-US" sz="3200" dirty="0"/>
          </a:p>
        </p:txBody>
      </p:sp>
      <p:sp>
        <p:nvSpPr>
          <p:cNvPr id="3" name="Shape 1"/>
          <p:cNvSpPr/>
          <p:nvPr/>
        </p:nvSpPr>
        <p:spPr>
          <a:xfrm>
            <a:off x="538376" y="1478903"/>
            <a:ext cx="3383280" cy="3291840"/>
          </a:xfrm>
          <a:prstGeom prst="roundRect">
            <a:avLst>
              <a:gd name="adj" fmla="val 2222"/>
            </a:avLst>
          </a:prstGeom>
          <a:solidFill>
            <a:srgbClr val="FFFFFF"/>
          </a:solidFill>
          <a:ln w="12700">
            <a:solidFill>
              <a:srgbClr val="DDE4E9"/>
            </a:solidFill>
            <a:prstDash val="solid"/>
          </a:ln>
          <a:effectLst>
            <a:outerShdw blurRad="101600" dist="38100" dir="5400000" algn="bl" rotWithShape="0">
              <a:srgbClr val="000000">
                <a:alpha val="12000"/>
              </a:srgbClr>
            </a:outerShdw>
          </a:effectLst>
        </p:spPr>
        <p:txBody>
          <a:bodyPr/>
          <a:lstStyle/>
          <a:p>
            <a:endParaRPr lang="en-IN" dirty="0"/>
          </a:p>
        </p:txBody>
      </p:sp>
      <p:sp>
        <p:nvSpPr>
          <p:cNvPr id="4" name="Text 2"/>
          <p:cNvSpPr txBox="1"/>
          <p:nvPr/>
        </p:nvSpPr>
        <p:spPr>
          <a:xfrm>
            <a:off x="822960" y="1597660"/>
            <a:ext cx="2834640" cy="365760"/>
          </a:xfrm>
          <a:prstGeom prst="rect">
            <a:avLst/>
          </a:prstGeom>
          <a:noFill/>
          <a:ln/>
        </p:spPr>
        <p:txBody>
          <a:bodyPr wrap="square" lIns="0" tIns="0" rIns="0" bIns="0" rtlCol="0" anchor="ctr"/>
          <a:lstStyle/>
          <a:p>
            <a:pPr marL="0" indent="0">
              <a:buNone/>
            </a:pPr>
            <a:r>
              <a:rPr lang="en-US" sz="1400" b="1" dirty="0">
                <a:solidFill>
                  <a:schemeClr val="accent1">
                    <a:lumMod val="75000"/>
                  </a:schemeClr>
                </a:solidFill>
                <a:latin typeface="Calibri" pitchFamily="34" charset="0"/>
                <a:ea typeface="Calibri" pitchFamily="34" charset="-122"/>
                <a:cs typeface="Calibri" pitchFamily="34" charset="-120"/>
              </a:rPr>
              <a:t>dictionary</a:t>
            </a:r>
            <a:endParaRPr lang="en-US" sz="1400" dirty="0">
              <a:solidFill>
                <a:schemeClr val="accent1">
                  <a:lumMod val="75000"/>
                </a:schemeClr>
              </a:solidFill>
            </a:endParaRPr>
          </a:p>
        </p:txBody>
      </p:sp>
      <p:sp>
        <p:nvSpPr>
          <p:cNvPr id="5" name="Text 3"/>
          <p:cNvSpPr txBox="1"/>
          <p:nvPr/>
        </p:nvSpPr>
        <p:spPr>
          <a:xfrm>
            <a:off x="822960" y="1953438"/>
            <a:ext cx="2834640" cy="914400"/>
          </a:xfrm>
          <a:prstGeom prst="rect">
            <a:avLst/>
          </a:prstGeom>
          <a:noFill/>
          <a:ln/>
        </p:spPr>
        <p:txBody>
          <a:bodyPr wrap="square" lIns="0" tIns="0" rIns="0" bIns="0" rtlCol="0" anchor="ctr"/>
          <a:lstStyle/>
          <a:p>
            <a:pPr marL="0" indent="0">
              <a:buNone/>
            </a:pPr>
            <a:r>
              <a:rPr lang="en-US" sz="4800" b="1" dirty="0">
                <a:solidFill>
                  <a:srgbClr val="21295C"/>
                </a:solidFill>
                <a:latin typeface="Cambria" pitchFamily="34" charset="0"/>
                <a:ea typeface="Cambria" pitchFamily="34" charset="-122"/>
                <a:cs typeface="Cambria" pitchFamily="34" charset="-120"/>
              </a:rPr>
              <a:t>81</a:t>
            </a:r>
            <a:endParaRPr lang="en-US" sz="4800" dirty="0"/>
          </a:p>
        </p:txBody>
      </p:sp>
      <p:sp>
        <p:nvSpPr>
          <p:cNvPr id="6" name="Text 4"/>
          <p:cNvSpPr txBox="1"/>
          <p:nvPr/>
        </p:nvSpPr>
        <p:spPr>
          <a:xfrm>
            <a:off x="822960" y="2772717"/>
            <a:ext cx="2834640" cy="365760"/>
          </a:xfrm>
          <a:prstGeom prst="rect">
            <a:avLst/>
          </a:prstGeom>
          <a:noFill/>
          <a:ln/>
        </p:spPr>
        <p:txBody>
          <a:bodyPr wrap="square" lIns="0" tIns="0" rIns="0" bIns="0" rtlCol="0" anchor="ctr"/>
          <a:lstStyle/>
          <a:p>
            <a:pPr marL="0" indent="0">
              <a:buNone/>
            </a:pPr>
            <a:r>
              <a:rPr lang="en-US" sz="1300" dirty="0">
                <a:solidFill>
                  <a:srgbClr val="5A6B78"/>
                </a:solidFill>
                <a:latin typeface="Calibri" pitchFamily="34" charset="0"/>
                <a:ea typeface="Calibri" pitchFamily="34" charset="-122"/>
                <a:cs typeface="Calibri" pitchFamily="34" charset="-120"/>
              </a:rPr>
              <a:t>indicators</a:t>
            </a:r>
            <a:endParaRPr lang="en-US" sz="1300" dirty="0"/>
          </a:p>
        </p:txBody>
      </p:sp>
      <p:sp>
        <p:nvSpPr>
          <p:cNvPr id="7" name="Shape 5"/>
          <p:cNvSpPr/>
          <p:nvPr/>
        </p:nvSpPr>
        <p:spPr>
          <a:xfrm>
            <a:off x="822960" y="4064000"/>
            <a:ext cx="2834640" cy="0"/>
          </a:xfrm>
          <a:prstGeom prst="line">
            <a:avLst/>
          </a:prstGeom>
          <a:noFill/>
          <a:ln w="12700">
            <a:solidFill>
              <a:srgbClr val="E5EAEE"/>
            </a:solidFill>
            <a:prstDash val="solid"/>
          </a:ln>
        </p:spPr>
      </p:sp>
      <p:sp>
        <p:nvSpPr>
          <p:cNvPr id="8" name="Text 6"/>
          <p:cNvSpPr txBox="1"/>
          <p:nvPr/>
        </p:nvSpPr>
        <p:spPr>
          <a:xfrm>
            <a:off x="694191" y="3902054"/>
            <a:ext cx="2834640" cy="8229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Metadata: category, unit, source, coverage</a:t>
            </a:r>
            <a:endParaRPr lang="en-US" sz="1250" dirty="0"/>
          </a:p>
        </p:txBody>
      </p:sp>
      <p:sp>
        <p:nvSpPr>
          <p:cNvPr id="9" name="Shape 7"/>
          <p:cNvSpPr/>
          <p:nvPr/>
        </p:nvSpPr>
        <p:spPr>
          <a:xfrm>
            <a:off x="4290446" y="1478903"/>
            <a:ext cx="3383280" cy="3291840"/>
          </a:xfrm>
          <a:prstGeom prst="roundRect">
            <a:avLst>
              <a:gd name="adj" fmla="val 2222"/>
            </a:avLst>
          </a:prstGeom>
          <a:solidFill>
            <a:srgbClr val="FFFFFF"/>
          </a:solidFill>
          <a:ln w="12700">
            <a:solidFill>
              <a:srgbClr val="DDE4E9"/>
            </a:solidFill>
            <a:prstDash val="solid"/>
          </a:ln>
          <a:effectLst>
            <a:outerShdw blurRad="101600" dist="38100" dir="5400000" algn="bl" rotWithShape="0">
              <a:srgbClr val="000000">
                <a:alpha val="12000"/>
              </a:srgbClr>
            </a:outerShdw>
          </a:effectLst>
        </p:spPr>
      </p:sp>
      <p:sp>
        <p:nvSpPr>
          <p:cNvPr id="10" name="Text 8"/>
          <p:cNvSpPr txBox="1"/>
          <p:nvPr/>
        </p:nvSpPr>
        <p:spPr>
          <a:xfrm>
            <a:off x="4527051" y="1606167"/>
            <a:ext cx="2834640" cy="36576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country_reference</a:t>
            </a:r>
            <a:endParaRPr lang="en-US" sz="1400" dirty="0"/>
          </a:p>
        </p:txBody>
      </p:sp>
      <p:sp>
        <p:nvSpPr>
          <p:cNvPr id="11" name="Text 9"/>
          <p:cNvSpPr txBox="1"/>
          <p:nvPr/>
        </p:nvSpPr>
        <p:spPr>
          <a:xfrm>
            <a:off x="4564766" y="1953438"/>
            <a:ext cx="2834640" cy="914400"/>
          </a:xfrm>
          <a:prstGeom prst="rect">
            <a:avLst/>
          </a:prstGeom>
          <a:noFill/>
          <a:ln/>
        </p:spPr>
        <p:txBody>
          <a:bodyPr wrap="square" lIns="0" tIns="0" rIns="0" bIns="0" rtlCol="0" anchor="ctr"/>
          <a:lstStyle/>
          <a:p>
            <a:pPr marL="0" indent="0">
              <a:buNone/>
            </a:pPr>
            <a:r>
              <a:rPr lang="en-US" sz="4800" b="1" dirty="0">
                <a:solidFill>
                  <a:srgbClr val="21295C"/>
                </a:solidFill>
                <a:latin typeface="Cambria" pitchFamily="34" charset="0"/>
                <a:ea typeface="Cambria" pitchFamily="34" charset="-122"/>
                <a:cs typeface="Cambria" pitchFamily="34" charset="-120"/>
              </a:rPr>
              <a:t>250</a:t>
            </a:r>
            <a:endParaRPr lang="en-US" sz="4800" dirty="0"/>
          </a:p>
        </p:txBody>
      </p:sp>
      <p:sp>
        <p:nvSpPr>
          <p:cNvPr id="12" name="Text 10"/>
          <p:cNvSpPr txBox="1"/>
          <p:nvPr/>
        </p:nvSpPr>
        <p:spPr>
          <a:xfrm>
            <a:off x="4676601" y="2772717"/>
            <a:ext cx="2834640" cy="365760"/>
          </a:xfrm>
          <a:prstGeom prst="rect">
            <a:avLst/>
          </a:prstGeom>
          <a:noFill/>
          <a:ln/>
        </p:spPr>
        <p:txBody>
          <a:bodyPr wrap="square" lIns="0" tIns="0" rIns="0" bIns="0" rtlCol="0" anchor="ctr"/>
          <a:lstStyle/>
          <a:p>
            <a:pPr marL="0" indent="0">
              <a:buNone/>
            </a:pPr>
            <a:r>
              <a:rPr lang="en-US" sz="1300" dirty="0">
                <a:solidFill>
                  <a:srgbClr val="5A6B78"/>
                </a:solidFill>
                <a:latin typeface="Calibri" pitchFamily="34" charset="0"/>
                <a:ea typeface="Calibri" pitchFamily="34" charset="-122"/>
                <a:cs typeface="Calibri" pitchFamily="34" charset="-120"/>
              </a:rPr>
              <a:t>countries</a:t>
            </a:r>
            <a:endParaRPr lang="en-US" sz="1300" dirty="0"/>
          </a:p>
        </p:txBody>
      </p:sp>
      <p:sp>
        <p:nvSpPr>
          <p:cNvPr id="13" name="Shape 11"/>
          <p:cNvSpPr/>
          <p:nvPr/>
        </p:nvSpPr>
        <p:spPr>
          <a:xfrm>
            <a:off x="4551680" y="4064000"/>
            <a:ext cx="2834640" cy="0"/>
          </a:xfrm>
          <a:prstGeom prst="line">
            <a:avLst/>
          </a:prstGeom>
          <a:noFill/>
          <a:ln w="12700">
            <a:solidFill>
              <a:srgbClr val="E5EAEE"/>
            </a:solidFill>
            <a:prstDash val="solid"/>
          </a:ln>
        </p:spPr>
      </p:sp>
      <p:sp>
        <p:nvSpPr>
          <p:cNvPr id="14" name="Text 12"/>
          <p:cNvSpPr txBox="1"/>
          <p:nvPr/>
        </p:nvSpPr>
        <p:spPr>
          <a:xfrm>
            <a:off x="4551680" y="3974842"/>
            <a:ext cx="2834640" cy="8229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Region, income level, memberships, ratings</a:t>
            </a:r>
            <a:endParaRPr lang="en-US" sz="1250" dirty="0"/>
          </a:p>
        </p:txBody>
      </p:sp>
      <p:sp>
        <p:nvSpPr>
          <p:cNvPr id="15" name="Shape 13"/>
          <p:cNvSpPr/>
          <p:nvPr/>
        </p:nvSpPr>
        <p:spPr>
          <a:xfrm>
            <a:off x="7996069" y="1478903"/>
            <a:ext cx="3383280" cy="3291840"/>
          </a:xfrm>
          <a:prstGeom prst="roundRect">
            <a:avLst>
              <a:gd name="adj" fmla="val 2222"/>
            </a:avLst>
          </a:prstGeom>
          <a:solidFill>
            <a:srgbClr val="FFFFFF"/>
          </a:solidFill>
          <a:ln w="12700">
            <a:solidFill>
              <a:srgbClr val="DDE4E9"/>
            </a:solidFill>
            <a:prstDash val="solid"/>
          </a:ln>
          <a:effectLst>
            <a:outerShdw blurRad="101600" dist="38100" dir="5400000" algn="bl" rotWithShape="0">
              <a:srgbClr val="000000">
                <a:alpha val="12000"/>
              </a:srgbClr>
            </a:outerShdw>
          </a:effectLst>
        </p:spPr>
      </p:sp>
      <p:sp>
        <p:nvSpPr>
          <p:cNvPr id="16" name="Text 14"/>
          <p:cNvSpPr txBox="1"/>
          <p:nvPr/>
        </p:nvSpPr>
        <p:spPr>
          <a:xfrm>
            <a:off x="8192271" y="1597660"/>
            <a:ext cx="2834640" cy="36576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global_economic</a:t>
            </a:r>
            <a:endParaRPr lang="en-US" sz="1400" dirty="0"/>
          </a:p>
        </p:txBody>
      </p:sp>
      <p:sp>
        <p:nvSpPr>
          <p:cNvPr id="17" name="Text 15"/>
          <p:cNvSpPr txBox="1"/>
          <p:nvPr/>
        </p:nvSpPr>
        <p:spPr>
          <a:xfrm>
            <a:off x="8321040" y="1971927"/>
            <a:ext cx="2834640" cy="914400"/>
          </a:xfrm>
          <a:prstGeom prst="rect">
            <a:avLst/>
          </a:prstGeom>
          <a:noFill/>
          <a:ln/>
        </p:spPr>
        <p:txBody>
          <a:bodyPr wrap="square" lIns="0" tIns="0" rIns="0" bIns="0" rtlCol="0" anchor="ctr"/>
          <a:lstStyle/>
          <a:p>
            <a:pPr marL="0" indent="0">
              <a:buNone/>
            </a:pPr>
            <a:r>
              <a:rPr lang="en-US" sz="4800" b="1" dirty="0">
                <a:solidFill>
                  <a:srgbClr val="21295C"/>
                </a:solidFill>
                <a:latin typeface="Cambria" pitchFamily="34" charset="0"/>
                <a:ea typeface="Cambria" pitchFamily="34" charset="-122"/>
                <a:cs typeface="Cambria" pitchFamily="34" charset="-120"/>
              </a:rPr>
              <a:t>317K+</a:t>
            </a:r>
            <a:endParaRPr lang="en-US" sz="4800" dirty="0"/>
          </a:p>
        </p:txBody>
      </p:sp>
      <p:sp>
        <p:nvSpPr>
          <p:cNvPr id="18" name="Text 16"/>
          <p:cNvSpPr txBox="1"/>
          <p:nvPr/>
        </p:nvSpPr>
        <p:spPr>
          <a:xfrm>
            <a:off x="8432875" y="2867838"/>
            <a:ext cx="2834640" cy="365760"/>
          </a:xfrm>
          <a:prstGeom prst="rect">
            <a:avLst/>
          </a:prstGeom>
          <a:noFill/>
          <a:ln/>
        </p:spPr>
        <p:txBody>
          <a:bodyPr wrap="square" lIns="0" tIns="0" rIns="0" bIns="0" rtlCol="0" anchor="ctr"/>
          <a:lstStyle/>
          <a:p>
            <a:pPr marL="0" indent="0">
              <a:buNone/>
            </a:pPr>
            <a:r>
              <a:rPr lang="en-US" sz="1300" dirty="0">
                <a:solidFill>
                  <a:srgbClr val="5A6B78"/>
                </a:solidFill>
                <a:latin typeface="Calibri" pitchFamily="34" charset="0"/>
                <a:ea typeface="Calibri" pitchFamily="34" charset="-122"/>
                <a:cs typeface="Calibri" pitchFamily="34" charset="-120"/>
              </a:rPr>
              <a:t>data rows</a:t>
            </a:r>
            <a:endParaRPr lang="en-US" sz="1300" dirty="0"/>
          </a:p>
        </p:txBody>
      </p:sp>
      <p:sp>
        <p:nvSpPr>
          <p:cNvPr id="19" name="Shape 17"/>
          <p:cNvSpPr/>
          <p:nvPr/>
        </p:nvSpPr>
        <p:spPr>
          <a:xfrm>
            <a:off x="8321040" y="4064000"/>
            <a:ext cx="2834640" cy="0"/>
          </a:xfrm>
          <a:prstGeom prst="line">
            <a:avLst/>
          </a:prstGeom>
          <a:noFill/>
          <a:ln w="12700">
            <a:solidFill>
              <a:srgbClr val="E5EAEE"/>
            </a:solidFill>
            <a:prstDash val="solid"/>
          </a:ln>
        </p:spPr>
      </p:sp>
      <p:sp>
        <p:nvSpPr>
          <p:cNvPr id="20" name="Text 18"/>
          <p:cNvSpPr txBox="1"/>
          <p:nvPr/>
        </p:nvSpPr>
        <p:spPr>
          <a:xfrm>
            <a:off x="8192271" y="3976241"/>
            <a:ext cx="2834640" cy="8229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Country × indicator × year, 2000–2031</a:t>
            </a:r>
            <a:endParaRPr lang="en-US" sz="1250" dirty="0"/>
          </a:p>
        </p:txBody>
      </p:sp>
      <p:sp>
        <p:nvSpPr>
          <p:cNvPr id="21" name="Text 19"/>
          <p:cNvSpPr txBox="1"/>
          <p:nvPr/>
        </p:nvSpPr>
        <p:spPr>
          <a:xfrm>
            <a:off x="822960" y="6320556"/>
            <a:ext cx="10972800" cy="457200"/>
          </a:xfrm>
          <a:prstGeom prst="rect">
            <a:avLst/>
          </a:prstGeom>
          <a:noFill/>
          <a:ln/>
        </p:spPr>
        <p:txBody>
          <a:bodyPr wrap="square" lIns="0" tIns="0" rIns="0" bIns="0" rtlCol="0" anchor="ctr"/>
          <a:lstStyle/>
          <a:p>
            <a:pPr marL="0" indent="0">
              <a:buNone/>
            </a:pPr>
            <a:r>
              <a:rPr lang="en-US" sz="1200" i="1" dirty="0">
                <a:solidFill>
                  <a:srgbClr val="5A6B78"/>
                </a:solidFill>
                <a:latin typeface="Calibri" pitchFamily="34" charset="0"/>
                <a:ea typeface="Calibri" pitchFamily="34" charset="-122"/>
                <a:cs typeface="Calibri" pitchFamily="34" charset="-120"/>
              </a:rPr>
              <a:t>Sources: World Bank (majority of indicators) and IMF World Economic Outlook (projections through 2031)</a:t>
            </a:r>
            <a:endParaRPr lang="en-US" sz="1200" dirty="0"/>
          </a:p>
        </p:txBody>
      </p:sp>
      <p:sp>
        <p:nvSpPr>
          <p:cNvPr id="23" name="Text 6">
            <a:extLst>
              <a:ext uri="{FF2B5EF4-FFF2-40B4-BE49-F238E27FC236}">
                <a16:creationId xmlns:a16="http://schemas.microsoft.com/office/drawing/2014/main" id="{CCC4C789-C53A-66CE-BF98-40575074F95C}"/>
              </a:ext>
            </a:extLst>
          </p:cNvPr>
          <p:cNvSpPr txBox="1"/>
          <p:nvPr/>
        </p:nvSpPr>
        <p:spPr>
          <a:xfrm>
            <a:off x="646554" y="5300517"/>
            <a:ext cx="10722486" cy="822960"/>
          </a:xfrm>
          <a:prstGeom prst="rect">
            <a:avLst/>
          </a:prstGeom>
          <a:noFill/>
          <a:ln/>
        </p:spPr>
        <p:txBody>
          <a:bodyPr wrap="square" lIns="0" tIns="0" rIns="0" bIns="0" rtlCol="0" anchor="ctr"/>
          <a:lstStyle/>
          <a:p>
            <a:pPr lvl="0"/>
            <a:r>
              <a:rPr lang="en-IN" sz="1400" dirty="0"/>
              <a:t>Authoritative sources — World Bank and IMF, trusted globally for economic data</a:t>
            </a:r>
          </a:p>
          <a:p>
            <a:pPr lvl="0"/>
            <a:r>
              <a:rPr lang="en-IN" sz="1400" dirty="0"/>
              <a:t>Broad coverage — 200+ countries, 81 indicators across 12 categories</a:t>
            </a:r>
          </a:p>
          <a:p>
            <a:pPr lvl="0"/>
            <a:r>
              <a:rPr lang="en-IN" sz="1400" dirty="0"/>
              <a:t>Sufficient time range — 2000 to 2025+, enabling real trend analysis</a:t>
            </a:r>
          </a:p>
          <a:p>
            <a:pPr lvl="0"/>
            <a:r>
              <a:rPr lang="en-IN" sz="1400" dirty="0"/>
              <a:t>Well-structured — three related tables suited to practicing real-world data cleaning and merging</a:t>
            </a:r>
          </a:p>
          <a:p>
            <a:pPr lvl="0"/>
            <a:r>
              <a:rPr lang="en-IN" sz="1400" dirty="0"/>
              <a:t>Relevant, meaningful topics — poverty, GDP, and life expectancy are globally significant and easy to communicate to any audience</a:t>
            </a:r>
          </a:p>
        </p:txBody>
      </p:sp>
      <p:sp>
        <p:nvSpPr>
          <p:cNvPr id="27" name="TextBox 26">
            <a:extLst>
              <a:ext uri="{FF2B5EF4-FFF2-40B4-BE49-F238E27FC236}">
                <a16:creationId xmlns:a16="http://schemas.microsoft.com/office/drawing/2014/main" id="{0381A56E-8793-6C5D-C5E9-DC44ACFBD238}"/>
              </a:ext>
            </a:extLst>
          </p:cNvPr>
          <p:cNvSpPr txBox="1"/>
          <p:nvPr/>
        </p:nvSpPr>
        <p:spPr>
          <a:xfrm>
            <a:off x="538376" y="627707"/>
            <a:ext cx="10205720" cy="738664"/>
          </a:xfrm>
          <a:prstGeom prst="rect">
            <a:avLst/>
          </a:prstGeom>
          <a:noFill/>
        </p:spPr>
        <p:txBody>
          <a:bodyPr wrap="square">
            <a:spAutoFit/>
          </a:bodyPr>
          <a:lstStyle/>
          <a:p>
            <a:r>
              <a:rPr lang="en-IN" sz="1400" b="1" dirty="0">
                <a:solidFill>
                  <a:schemeClr val="accent1">
                    <a:lumMod val="50000"/>
                  </a:schemeClr>
                </a:solidFill>
              </a:rPr>
              <a:t>Dataset </a:t>
            </a:r>
            <a:r>
              <a:rPr lang="en-IN" sz="1400" dirty="0"/>
              <a:t>: Global Country Economic Indicators (2000–2031)</a:t>
            </a:r>
          </a:p>
          <a:p>
            <a:endParaRPr lang="en-IN" sz="1400" dirty="0"/>
          </a:p>
          <a:p>
            <a:r>
              <a:rPr lang="en-IN" sz="1400" b="1" dirty="0">
                <a:solidFill>
                  <a:schemeClr val="accent1">
                    <a:lumMod val="50000"/>
                  </a:schemeClr>
                </a:solidFill>
              </a:rPr>
              <a:t>Kaggle</a:t>
            </a:r>
            <a:r>
              <a:rPr lang="en-IN" sz="1400" dirty="0"/>
              <a:t> — kaggle.com/code/</a:t>
            </a:r>
            <a:r>
              <a:rPr lang="en-IN" sz="1400" dirty="0" err="1"/>
              <a:t>metricshour</a:t>
            </a:r>
            <a:r>
              <a:rPr lang="en-IN" sz="1400" dirty="0"/>
              <a:t>/global-country-economic-indicators-starter-</a:t>
            </a:r>
            <a:r>
              <a:rPr lang="en-IN" sz="1400" dirty="0" err="1"/>
              <a:t>eda</a:t>
            </a:r>
            <a:endParaRPr lang="en-IN" sz="1400" dirty="0"/>
          </a:p>
        </p:txBody>
      </p:sp>
      <p:sp>
        <p:nvSpPr>
          <p:cNvPr id="24" name="TextBox 23">
            <a:extLst>
              <a:ext uri="{FF2B5EF4-FFF2-40B4-BE49-F238E27FC236}">
                <a16:creationId xmlns:a16="http://schemas.microsoft.com/office/drawing/2014/main" id="{F624FC5A-9CBE-D5CC-025A-0E5057AEC82F}"/>
              </a:ext>
            </a:extLst>
          </p:cNvPr>
          <p:cNvSpPr txBox="1"/>
          <p:nvPr/>
        </p:nvSpPr>
        <p:spPr>
          <a:xfrm>
            <a:off x="640127" y="3138477"/>
            <a:ext cx="3281529" cy="830997"/>
          </a:xfrm>
          <a:prstGeom prst="rect">
            <a:avLst/>
          </a:prstGeom>
          <a:noFill/>
        </p:spPr>
        <p:txBody>
          <a:bodyPr wrap="square">
            <a:spAutoFit/>
          </a:bodyPr>
          <a:lstStyle/>
          <a:p>
            <a:r>
              <a:rPr lang="en-IN" sz="1200" b="1" dirty="0">
                <a:solidFill>
                  <a:schemeClr val="accent1">
                    <a:lumMod val="75000"/>
                  </a:schemeClr>
                </a:solidFill>
              </a:rPr>
              <a:t>dictionary</a:t>
            </a:r>
            <a:r>
              <a:rPr lang="en-IN" sz="1200" dirty="0">
                <a:solidFill>
                  <a:schemeClr val="accent1">
                    <a:lumMod val="75000"/>
                  </a:schemeClr>
                </a:solidFill>
              </a:rPr>
              <a:t> </a:t>
            </a:r>
            <a:r>
              <a:rPr lang="en-IN" sz="1200" dirty="0"/>
              <a:t>— 81 indicators across 12 categories (Economy, Demographics, Social, Fiscal, and more), describing what each indicator measures, its unit, and coverage</a:t>
            </a:r>
          </a:p>
        </p:txBody>
      </p:sp>
      <p:sp>
        <p:nvSpPr>
          <p:cNvPr id="26" name="TextBox 25">
            <a:extLst>
              <a:ext uri="{FF2B5EF4-FFF2-40B4-BE49-F238E27FC236}">
                <a16:creationId xmlns:a16="http://schemas.microsoft.com/office/drawing/2014/main" id="{B005BBE1-A4AA-4B02-F3CF-1E6D5523F728}"/>
              </a:ext>
            </a:extLst>
          </p:cNvPr>
          <p:cNvSpPr txBox="1"/>
          <p:nvPr/>
        </p:nvSpPr>
        <p:spPr>
          <a:xfrm>
            <a:off x="4307810" y="3241546"/>
            <a:ext cx="3433931" cy="646331"/>
          </a:xfrm>
          <a:prstGeom prst="rect">
            <a:avLst/>
          </a:prstGeom>
          <a:noFill/>
        </p:spPr>
        <p:txBody>
          <a:bodyPr wrap="square">
            <a:spAutoFit/>
          </a:bodyPr>
          <a:lstStyle/>
          <a:p>
            <a:r>
              <a:rPr lang="en-IN" sz="1200" b="1" dirty="0" err="1">
                <a:solidFill>
                  <a:schemeClr val="accent1">
                    <a:lumMod val="75000"/>
                  </a:schemeClr>
                </a:solidFill>
              </a:rPr>
              <a:t>country_reference</a:t>
            </a:r>
            <a:r>
              <a:rPr lang="en-IN" sz="1200" dirty="0">
                <a:solidFill>
                  <a:schemeClr val="accent1">
                    <a:lumMod val="75000"/>
                  </a:schemeClr>
                </a:solidFill>
              </a:rPr>
              <a:t> </a:t>
            </a:r>
            <a:r>
              <a:rPr lang="en-IN" sz="1200" dirty="0"/>
              <a:t>— 250 countries and territories, with attributes like region, income level, and group memberships (G7, G20, EU, etc.)</a:t>
            </a:r>
          </a:p>
        </p:txBody>
      </p:sp>
      <p:sp>
        <p:nvSpPr>
          <p:cNvPr id="29" name="TextBox 28">
            <a:extLst>
              <a:ext uri="{FF2B5EF4-FFF2-40B4-BE49-F238E27FC236}">
                <a16:creationId xmlns:a16="http://schemas.microsoft.com/office/drawing/2014/main" id="{A0FE8451-6D61-113B-4157-F9619883DCE0}"/>
              </a:ext>
            </a:extLst>
          </p:cNvPr>
          <p:cNvSpPr txBox="1"/>
          <p:nvPr/>
        </p:nvSpPr>
        <p:spPr>
          <a:xfrm>
            <a:off x="8151068" y="3227982"/>
            <a:ext cx="3217972" cy="830997"/>
          </a:xfrm>
          <a:prstGeom prst="rect">
            <a:avLst/>
          </a:prstGeom>
          <a:noFill/>
        </p:spPr>
        <p:txBody>
          <a:bodyPr wrap="square">
            <a:spAutoFit/>
          </a:bodyPr>
          <a:lstStyle/>
          <a:p>
            <a:r>
              <a:rPr lang="en-IN" sz="1200" b="1" dirty="0" err="1">
                <a:solidFill>
                  <a:schemeClr val="accent1">
                    <a:lumMod val="75000"/>
                  </a:schemeClr>
                </a:solidFill>
              </a:rPr>
              <a:t>global_economic</a:t>
            </a:r>
            <a:r>
              <a:rPr lang="en-IN" sz="1200" dirty="0">
                <a:solidFill>
                  <a:schemeClr val="accent1">
                    <a:lumMod val="75000"/>
                  </a:schemeClr>
                </a:solidFill>
              </a:rPr>
              <a:t> </a:t>
            </a:r>
            <a:r>
              <a:rPr lang="en-IN" sz="1200" dirty="0"/>
              <a:t>— the core dataset: over 317,000 rows combining country, indicator, year, and value, from 2000 to 2025 (some indicators extend to 2031)</a:t>
            </a:r>
            <a:endParaRPr lang="en-US" sz="1200" dirty="0"/>
          </a:p>
        </p:txBody>
      </p:sp>
      <p:sp>
        <p:nvSpPr>
          <p:cNvPr id="31" name="TextBox 30">
            <a:extLst>
              <a:ext uri="{FF2B5EF4-FFF2-40B4-BE49-F238E27FC236}">
                <a16:creationId xmlns:a16="http://schemas.microsoft.com/office/drawing/2014/main" id="{F71EF059-3081-64D7-D2C8-556D0D36CA7B}"/>
              </a:ext>
            </a:extLst>
          </p:cNvPr>
          <p:cNvSpPr txBox="1"/>
          <p:nvPr/>
        </p:nvSpPr>
        <p:spPr>
          <a:xfrm>
            <a:off x="480054" y="4826392"/>
            <a:ext cx="6097554" cy="307777"/>
          </a:xfrm>
          <a:prstGeom prst="rect">
            <a:avLst/>
          </a:prstGeom>
          <a:noFill/>
        </p:spPr>
        <p:txBody>
          <a:bodyPr wrap="square">
            <a:spAutoFit/>
          </a:bodyPr>
          <a:lstStyle/>
          <a:p>
            <a:r>
              <a:rPr lang="en-IN" sz="1400" dirty="0">
                <a:solidFill>
                  <a:schemeClr val="accent1">
                    <a:lumMod val="50000"/>
                  </a:schemeClr>
                </a:solidFill>
              </a:rPr>
              <a:t>Why we chose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Cleaning &amp; Preparation</a:t>
            </a:r>
            <a:endParaRPr lang="en-US" sz="3200" dirty="0"/>
          </a:p>
        </p:txBody>
      </p:sp>
      <p:sp>
        <p:nvSpPr>
          <p:cNvPr id="3" name="Shape 1"/>
          <p:cNvSpPr/>
          <p:nvPr/>
        </p:nvSpPr>
        <p:spPr>
          <a:xfrm>
            <a:off x="548640" y="1600200"/>
            <a:ext cx="73152" cy="777240"/>
          </a:xfrm>
          <a:prstGeom prst="rect">
            <a:avLst/>
          </a:prstGeom>
          <a:solidFill>
            <a:srgbClr val="E8A33D"/>
          </a:solidFill>
          <a:ln/>
        </p:spPr>
      </p:sp>
      <p:sp>
        <p:nvSpPr>
          <p:cNvPr id="4" name="Text 2"/>
          <p:cNvSpPr txBox="1"/>
          <p:nvPr/>
        </p:nvSpPr>
        <p:spPr>
          <a:xfrm>
            <a:off x="868680" y="1554480"/>
            <a:ext cx="2743200" cy="82296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Null </a:t>
            </a:r>
            <a:r>
              <a:rPr lang="en-US" sz="1500" b="1" dirty="0">
                <a:solidFill>
                  <a:schemeClr val="accent1">
                    <a:lumMod val="50000"/>
                  </a:schemeClr>
                </a:solidFill>
                <a:latin typeface="Cambria" pitchFamily="34" charset="0"/>
                <a:ea typeface="Cambria" pitchFamily="34" charset="-122"/>
                <a:cs typeface="Cambria" pitchFamily="34" charset="-120"/>
              </a:rPr>
              <a:t>handling</a:t>
            </a:r>
            <a:endParaRPr lang="en-US" sz="1500" dirty="0">
              <a:solidFill>
                <a:schemeClr val="accent1">
                  <a:lumMod val="50000"/>
                </a:schemeClr>
              </a:solidFill>
            </a:endParaRPr>
          </a:p>
        </p:txBody>
      </p:sp>
      <p:sp>
        <p:nvSpPr>
          <p:cNvPr id="5" name="Text 3"/>
          <p:cNvSpPr txBox="1"/>
          <p:nvPr/>
        </p:nvSpPr>
        <p:spPr>
          <a:xfrm>
            <a:off x="3749040" y="1554480"/>
            <a:ext cx="7863840" cy="822960"/>
          </a:xfrm>
          <a:prstGeom prst="rect">
            <a:avLst/>
          </a:prstGeom>
          <a:noFill/>
          <a:ln/>
        </p:spPr>
        <p:txBody>
          <a:bodyPr wrap="square" lIns="0" tIns="0" rIns="0" bIns="0" rtlCol="0" anchor="t"/>
          <a:lstStyle/>
          <a:p>
            <a:r>
              <a:rPr lang="en-IN" sz="1400" dirty="0"/>
              <a:t>Checked all three tables for missing values. Nine columns in </a:t>
            </a:r>
            <a:r>
              <a:rPr lang="en-IN" sz="1400" b="1" dirty="0" err="1">
                <a:solidFill>
                  <a:schemeClr val="accent1">
                    <a:lumMod val="50000"/>
                  </a:schemeClr>
                </a:solidFill>
              </a:rPr>
              <a:t>country_reference</a:t>
            </a:r>
            <a:r>
              <a:rPr lang="en-IN" sz="1400" b="1" dirty="0">
                <a:solidFill>
                  <a:schemeClr val="accent1">
                    <a:lumMod val="50000"/>
                  </a:schemeClr>
                </a:solidFill>
              </a:rPr>
              <a:t>  </a:t>
            </a:r>
            <a:r>
              <a:rPr lang="en-IN" sz="1400" dirty="0"/>
              <a:t>were completely empty  and were dropped. Remaining gaps were filled with meaningful placeholders  instead of deleting rows    — preserving all 250 countries for analysis.</a:t>
            </a:r>
            <a:endParaRPr lang="en-US" sz="1350" dirty="0"/>
          </a:p>
        </p:txBody>
      </p:sp>
      <p:sp>
        <p:nvSpPr>
          <p:cNvPr id="6" name="Shape 4"/>
          <p:cNvSpPr/>
          <p:nvPr/>
        </p:nvSpPr>
        <p:spPr>
          <a:xfrm>
            <a:off x="548640" y="2651760"/>
            <a:ext cx="73152" cy="777240"/>
          </a:xfrm>
          <a:prstGeom prst="rect">
            <a:avLst/>
          </a:prstGeom>
          <a:solidFill>
            <a:srgbClr val="E8A33D"/>
          </a:solidFill>
          <a:ln/>
        </p:spPr>
      </p:sp>
      <p:sp>
        <p:nvSpPr>
          <p:cNvPr id="7" name="Text 5"/>
          <p:cNvSpPr txBox="1"/>
          <p:nvPr/>
        </p:nvSpPr>
        <p:spPr>
          <a:xfrm>
            <a:off x="868680" y="2606040"/>
            <a:ext cx="2743200" cy="82296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Merge validation</a:t>
            </a:r>
            <a:endParaRPr lang="en-US" sz="1500" dirty="0"/>
          </a:p>
        </p:txBody>
      </p:sp>
      <p:sp>
        <p:nvSpPr>
          <p:cNvPr id="8" name="Text 6"/>
          <p:cNvSpPr txBox="1"/>
          <p:nvPr/>
        </p:nvSpPr>
        <p:spPr>
          <a:xfrm>
            <a:off x="3749040" y="2606040"/>
            <a:ext cx="7863840" cy="822960"/>
          </a:xfrm>
          <a:prstGeom prst="rect">
            <a:avLst/>
          </a:prstGeom>
          <a:noFill/>
          <a:ln/>
        </p:spPr>
        <p:txBody>
          <a:bodyPr wrap="square" lIns="0" tIns="0" rIns="0" bIns="0" rtlCol="0" anchor="t"/>
          <a:lstStyle/>
          <a:p>
            <a:r>
              <a:rPr lang="en-IN" sz="1400" dirty="0"/>
              <a:t>Before combining tables, verified that every country code in the indicator dataset had a matching entry in the reference table. Result: 0 missing matches — safe to merge without losing any data</a:t>
            </a:r>
            <a:endParaRPr lang="en-US" sz="1350" dirty="0"/>
          </a:p>
        </p:txBody>
      </p:sp>
      <p:sp>
        <p:nvSpPr>
          <p:cNvPr id="9" name="Shape 7"/>
          <p:cNvSpPr/>
          <p:nvPr/>
        </p:nvSpPr>
        <p:spPr>
          <a:xfrm>
            <a:off x="548640" y="3703320"/>
            <a:ext cx="73152" cy="777240"/>
          </a:xfrm>
          <a:prstGeom prst="rect">
            <a:avLst/>
          </a:prstGeom>
          <a:solidFill>
            <a:srgbClr val="E8A33D"/>
          </a:solidFill>
          <a:ln/>
        </p:spPr>
      </p:sp>
      <p:sp>
        <p:nvSpPr>
          <p:cNvPr id="10" name="Text 8"/>
          <p:cNvSpPr txBox="1"/>
          <p:nvPr/>
        </p:nvSpPr>
        <p:spPr>
          <a:xfrm>
            <a:off x="868680" y="3657600"/>
            <a:ext cx="2743200" cy="82296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Datetime conversion</a:t>
            </a:r>
            <a:endParaRPr lang="en-US" sz="1500" dirty="0"/>
          </a:p>
        </p:txBody>
      </p:sp>
      <p:sp>
        <p:nvSpPr>
          <p:cNvPr id="11" name="Text 9"/>
          <p:cNvSpPr txBox="1"/>
          <p:nvPr/>
        </p:nvSpPr>
        <p:spPr>
          <a:xfrm>
            <a:off x="3749040" y="3657600"/>
            <a:ext cx="7863840" cy="822960"/>
          </a:xfrm>
          <a:prstGeom prst="rect">
            <a:avLst/>
          </a:prstGeom>
          <a:noFill/>
          <a:ln/>
        </p:spPr>
        <p:txBody>
          <a:bodyPr wrap="square" lIns="0" tIns="0" rIns="0" bIns="0" rtlCol="0" anchor="t"/>
          <a:lstStyle/>
          <a:p>
            <a:r>
              <a:rPr lang="en-IN" sz="1400" dirty="0"/>
              <a:t>Converted </a:t>
            </a:r>
            <a:r>
              <a:rPr lang="en-IN" sz="1400" b="1" dirty="0" err="1">
                <a:solidFill>
                  <a:schemeClr val="accent1">
                    <a:lumMod val="50000"/>
                  </a:schemeClr>
                </a:solidFill>
              </a:rPr>
              <a:t>period_date</a:t>
            </a:r>
            <a:r>
              <a:rPr lang="en-IN" sz="1400" b="1" dirty="0">
                <a:solidFill>
                  <a:schemeClr val="accent1">
                    <a:lumMod val="50000"/>
                  </a:schemeClr>
                </a:solidFill>
              </a:rPr>
              <a:t> </a:t>
            </a:r>
            <a:r>
              <a:rPr lang="en-IN" sz="1400" dirty="0"/>
              <a:t>from plain text to a proper datetime format. Verified 0 parsing failures across all 317,055 rows before converting — enabling time-based operations like grouping by year and plotting trends.</a:t>
            </a:r>
            <a:endParaRPr lang="en-US" sz="1350" dirty="0"/>
          </a:p>
        </p:txBody>
      </p:sp>
      <p:sp>
        <p:nvSpPr>
          <p:cNvPr id="12" name="Shape 10"/>
          <p:cNvSpPr/>
          <p:nvPr/>
        </p:nvSpPr>
        <p:spPr>
          <a:xfrm>
            <a:off x="548640" y="4754880"/>
            <a:ext cx="73152" cy="777240"/>
          </a:xfrm>
          <a:prstGeom prst="rect">
            <a:avLst/>
          </a:prstGeom>
          <a:solidFill>
            <a:srgbClr val="E8A33D"/>
          </a:solidFill>
          <a:ln/>
        </p:spPr>
      </p:sp>
      <p:sp>
        <p:nvSpPr>
          <p:cNvPr id="13" name="Text 11"/>
          <p:cNvSpPr txBox="1"/>
          <p:nvPr/>
        </p:nvSpPr>
        <p:spPr>
          <a:xfrm>
            <a:off x="868680" y="4709160"/>
            <a:ext cx="2743200" cy="82296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Final merged table</a:t>
            </a:r>
            <a:endParaRPr lang="en-US" sz="1500" dirty="0"/>
          </a:p>
        </p:txBody>
      </p:sp>
      <p:sp>
        <p:nvSpPr>
          <p:cNvPr id="14" name="Text 12"/>
          <p:cNvSpPr txBox="1"/>
          <p:nvPr/>
        </p:nvSpPr>
        <p:spPr>
          <a:xfrm>
            <a:off x="3749040" y="4709160"/>
            <a:ext cx="7863840" cy="822960"/>
          </a:xfrm>
          <a:prstGeom prst="rect">
            <a:avLst/>
          </a:prstGeom>
          <a:noFill/>
          <a:ln/>
        </p:spPr>
        <p:txBody>
          <a:bodyPr wrap="square" lIns="0" tIns="0" rIns="0" bIns="0" rtlCol="0" anchor="t"/>
          <a:lstStyle/>
          <a:p>
            <a:r>
              <a:rPr lang="en-IN" sz="1400" dirty="0"/>
              <a:t>Combined dictionary (81 indicators), </a:t>
            </a:r>
            <a:r>
              <a:rPr lang="en-IN" sz="1400" dirty="0" err="1"/>
              <a:t>country_reference</a:t>
            </a:r>
            <a:r>
              <a:rPr lang="en-IN" sz="1400" dirty="0"/>
              <a:t> (250 countries), and </a:t>
            </a:r>
            <a:r>
              <a:rPr lang="en-IN" sz="1400" dirty="0" err="1"/>
              <a:t>global_economic</a:t>
            </a:r>
            <a:r>
              <a:rPr lang="en-IN" sz="1400" dirty="0"/>
              <a:t> (317K+ rows) into one table. Final result: 37 columns, 317,055 rows — same row count as the original, confirming no data was lost or duplicated. Duplicate columns from the merge (e.g. two versions of "region") were removed to keep the table clean.</a:t>
            </a:r>
            <a:endParaRPr lang="en-US" sz="13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Methodology</a:t>
            </a:r>
            <a:endParaRPr lang="en-US" sz="3200" dirty="0"/>
          </a:p>
        </p:txBody>
      </p:sp>
      <p:sp>
        <p:nvSpPr>
          <p:cNvPr id="3" name="Shape 1"/>
          <p:cNvSpPr/>
          <p:nvPr/>
        </p:nvSpPr>
        <p:spPr>
          <a:xfrm>
            <a:off x="548640" y="1737360"/>
            <a:ext cx="10881360" cy="914400"/>
          </a:xfrm>
          <a:prstGeom prst="roundRect">
            <a:avLst>
              <a:gd name="adj" fmla="val 6000"/>
            </a:avLst>
          </a:prstGeom>
          <a:solidFill>
            <a:srgbClr val="FFFFFF"/>
          </a:solidFill>
          <a:ln w="12700">
            <a:solidFill>
              <a:srgbClr val="DDE4E9"/>
            </a:solidFill>
            <a:prstDash val="solid"/>
          </a:ln>
        </p:spPr>
      </p:sp>
      <p:sp>
        <p:nvSpPr>
          <p:cNvPr id="4" name="Shape 2"/>
          <p:cNvSpPr/>
          <p:nvPr/>
        </p:nvSpPr>
        <p:spPr>
          <a:xfrm>
            <a:off x="822960" y="1965960"/>
            <a:ext cx="457200" cy="457200"/>
          </a:xfrm>
          <a:prstGeom prst="ellipse">
            <a:avLst/>
          </a:prstGeom>
          <a:solidFill>
            <a:srgbClr val="065A82"/>
          </a:solidFill>
          <a:ln/>
        </p:spPr>
      </p:sp>
      <p:sp>
        <p:nvSpPr>
          <p:cNvPr id="5" name="Text 3"/>
          <p:cNvSpPr txBox="1"/>
          <p:nvPr/>
        </p:nvSpPr>
        <p:spPr>
          <a:xfrm>
            <a:off x="82296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54480" y="1737360"/>
            <a:ext cx="9601200" cy="914400"/>
          </a:xfrm>
          <a:prstGeom prst="rect">
            <a:avLst/>
          </a:prstGeom>
          <a:noFill/>
          <a:ln/>
        </p:spPr>
        <p:txBody>
          <a:bodyPr wrap="square" lIns="0" tIns="0" rIns="0" bIns="0" rtlCol="0" anchor="ctr"/>
          <a:lstStyle/>
          <a:p>
            <a:r>
              <a:rPr lang="en-IN" sz="1400" dirty="0"/>
              <a:t>Our data mixes very different units — percentages, dollars, ratios — all in one column. So before </a:t>
            </a:r>
            <a:r>
              <a:rPr lang="en-IN" sz="1400" dirty="0" err="1"/>
              <a:t>analyzing</a:t>
            </a:r>
            <a:r>
              <a:rPr lang="en-IN" sz="1400" dirty="0"/>
              <a:t> anything, we always filter down to a single indicator first, otherwise we'd be comparing things that can't actually be compared."</a:t>
            </a:r>
            <a:endParaRPr lang="en-US" sz="1400" dirty="0"/>
          </a:p>
        </p:txBody>
      </p:sp>
      <p:sp>
        <p:nvSpPr>
          <p:cNvPr id="7" name="Shape 5"/>
          <p:cNvSpPr/>
          <p:nvPr/>
        </p:nvSpPr>
        <p:spPr>
          <a:xfrm>
            <a:off x="548640" y="2880360"/>
            <a:ext cx="10881360" cy="914400"/>
          </a:xfrm>
          <a:prstGeom prst="roundRect">
            <a:avLst>
              <a:gd name="adj" fmla="val 6000"/>
            </a:avLst>
          </a:prstGeom>
          <a:solidFill>
            <a:srgbClr val="FFFFFF"/>
          </a:solidFill>
          <a:ln w="12700">
            <a:solidFill>
              <a:srgbClr val="DDE4E9"/>
            </a:solidFill>
            <a:prstDash val="solid"/>
          </a:ln>
        </p:spPr>
      </p:sp>
      <p:sp>
        <p:nvSpPr>
          <p:cNvPr id="8" name="Shape 6"/>
          <p:cNvSpPr/>
          <p:nvPr/>
        </p:nvSpPr>
        <p:spPr>
          <a:xfrm>
            <a:off x="822960" y="3108960"/>
            <a:ext cx="457200" cy="457200"/>
          </a:xfrm>
          <a:prstGeom prst="ellipse">
            <a:avLst/>
          </a:prstGeom>
          <a:solidFill>
            <a:srgbClr val="065A82"/>
          </a:solidFill>
          <a:ln/>
        </p:spPr>
      </p:sp>
      <p:sp>
        <p:nvSpPr>
          <p:cNvPr id="9" name="Text 7"/>
          <p:cNvSpPr txBox="1"/>
          <p:nvPr/>
        </p:nvSpPr>
        <p:spPr>
          <a:xfrm>
            <a:off x="82296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554480" y="2880360"/>
            <a:ext cx="9601200" cy="914400"/>
          </a:xfrm>
          <a:prstGeom prst="rect">
            <a:avLst/>
          </a:prstGeom>
          <a:noFill/>
          <a:ln/>
        </p:spPr>
        <p:txBody>
          <a:bodyPr wrap="square" lIns="0" tIns="0" rIns="0" bIns="0" rtlCol="0" anchor="ctr"/>
          <a:lstStyle/>
          <a:p>
            <a:r>
              <a:rPr lang="en-IN" sz="1400" dirty="0"/>
              <a:t>Use each country's latest available year for snapshot charts (bar charts, maps, box plots) — ensuring a fair, current comparison across countries.</a:t>
            </a:r>
            <a:endParaRPr lang="en-US" sz="1400" dirty="0"/>
          </a:p>
        </p:txBody>
      </p:sp>
      <p:sp>
        <p:nvSpPr>
          <p:cNvPr id="11" name="Shape 9"/>
          <p:cNvSpPr/>
          <p:nvPr/>
        </p:nvSpPr>
        <p:spPr>
          <a:xfrm>
            <a:off x="548640" y="4023360"/>
            <a:ext cx="10881360" cy="914400"/>
          </a:xfrm>
          <a:prstGeom prst="roundRect">
            <a:avLst>
              <a:gd name="adj" fmla="val 6000"/>
            </a:avLst>
          </a:prstGeom>
          <a:solidFill>
            <a:srgbClr val="FFFFFF"/>
          </a:solidFill>
          <a:ln w="12700">
            <a:solidFill>
              <a:srgbClr val="DDE4E9"/>
            </a:solidFill>
            <a:prstDash val="solid"/>
          </a:ln>
        </p:spPr>
      </p:sp>
      <p:sp>
        <p:nvSpPr>
          <p:cNvPr id="12" name="Shape 10"/>
          <p:cNvSpPr/>
          <p:nvPr/>
        </p:nvSpPr>
        <p:spPr>
          <a:xfrm>
            <a:off x="822960" y="4251960"/>
            <a:ext cx="457200" cy="457200"/>
          </a:xfrm>
          <a:prstGeom prst="ellipse">
            <a:avLst/>
          </a:prstGeom>
          <a:solidFill>
            <a:srgbClr val="065A82"/>
          </a:solidFill>
          <a:ln/>
        </p:spPr>
      </p:sp>
      <p:sp>
        <p:nvSpPr>
          <p:cNvPr id="13" name="Text 11"/>
          <p:cNvSpPr txBox="1"/>
          <p:nvPr/>
        </p:nvSpPr>
        <p:spPr>
          <a:xfrm>
            <a:off x="822960" y="4251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554480" y="4023360"/>
            <a:ext cx="9601200" cy="914400"/>
          </a:xfrm>
          <a:prstGeom prst="rect">
            <a:avLst/>
          </a:prstGeom>
          <a:noFill/>
          <a:ln/>
        </p:spPr>
        <p:txBody>
          <a:bodyPr wrap="square" lIns="0" tIns="0" rIns="0" bIns="0" rtlCol="0" anchor="ctr"/>
          <a:lstStyle/>
          <a:p>
            <a:r>
              <a:rPr lang="en-IN" sz="1400" dirty="0"/>
              <a:t>Use the full time series for trend charts — showing how values change year by year</a:t>
            </a:r>
            <a:r>
              <a:rPr lang="en-US" sz="1400" dirty="0">
                <a:solidFill>
                  <a:srgbClr val="1A1A1A"/>
                </a:solidFill>
                <a:latin typeface="Calibri" pitchFamily="34" charset="0"/>
                <a:ea typeface="Calibri" pitchFamily="34" charset="-122"/>
                <a:cs typeface="Calibri" pitchFamily="34" charset="-120"/>
              </a:rPr>
              <a:t> (line charts, animated maps)</a:t>
            </a:r>
            <a:endParaRPr lang="en-US" sz="1400" dirty="0"/>
          </a:p>
        </p:txBody>
      </p:sp>
      <p:sp>
        <p:nvSpPr>
          <p:cNvPr id="15" name="Shape 13"/>
          <p:cNvSpPr/>
          <p:nvPr/>
        </p:nvSpPr>
        <p:spPr>
          <a:xfrm>
            <a:off x="548640" y="5166360"/>
            <a:ext cx="10881360" cy="914400"/>
          </a:xfrm>
          <a:prstGeom prst="roundRect">
            <a:avLst>
              <a:gd name="adj" fmla="val 6000"/>
            </a:avLst>
          </a:prstGeom>
          <a:solidFill>
            <a:srgbClr val="FFFFFF"/>
          </a:solidFill>
          <a:ln w="12700">
            <a:solidFill>
              <a:srgbClr val="DDE4E9"/>
            </a:solidFill>
            <a:prstDash val="solid"/>
          </a:ln>
        </p:spPr>
      </p:sp>
      <p:sp>
        <p:nvSpPr>
          <p:cNvPr id="16" name="Shape 14"/>
          <p:cNvSpPr/>
          <p:nvPr/>
        </p:nvSpPr>
        <p:spPr>
          <a:xfrm>
            <a:off x="822960" y="5394960"/>
            <a:ext cx="457200" cy="457200"/>
          </a:xfrm>
          <a:prstGeom prst="ellipse">
            <a:avLst/>
          </a:prstGeom>
          <a:solidFill>
            <a:srgbClr val="065A82"/>
          </a:solidFill>
          <a:ln/>
        </p:spPr>
      </p:sp>
      <p:sp>
        <p:nvSpPr>
          <p:cNvPr id="17" name="Text 15"/>
          <p:cNvSpPr txBox="1"/>
          <p:nvPr/>
        </p:nvSpPr>
        <p:spPr>
          <a:xfrm>
            <a:off x="822960" y="5394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554480" y="5166360"/>
            <a:ext cx="9601200" cy="914400"/>
          </a:xfrm>
          <a:prstGeom prst="rect">
            <a:avLst/>
          </a:prstGeom>
          <a:noFill/>
          <a:ln/>
        </p:spPr>
        <p:txBody>
          <a:bodyPr wrap="square" lIns="0" tIns="0" rIns="0" bIns="0" rtlCol="0" anchor="ctr"/>
          <a:lstStyle/>
          <a:p>
            <a:r>
              <a:rPr lang="en-IN" sz="1400" dirty="0"/>
              <a:t>We matched each chart type to the question we were asking — box plots for distribution, line charts for trends, scatter plots for relationships, and maps for geography — rather than using one chart style for everything</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39" y="216379"/>
            <a:ext cx="77724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Poverty Rate by Income Level</a:t>
            </a:r>
            <a:endParaRPr lang="en-US" sz="2800" dirty="0"/>
          </a:p>
        </p:txBody>
      </p:sp>
      <p:sp>
        <p:nvSpPr>
          <p:cNvPr id="3" name="Text 1"/>
          <p:cNvSpPr txBox="1"/>
          <p:nvPr/>
        </p:nvSpPr>
        <p:spPr>
          <a:xfrm>
            <a:off x="548640" y="777157"/>
            <a:ext cx="7772401" cy="365760"/>
          </a:xfrm>
          <a:prstGeom prst="rect">
            <a:avLst/>
          </a:prstGeom>
          <a:noFill/>
          <a:ln/>
        </p:spPr>
        <p:txBody>
          <a:bodyPr wrap="square" lIns="0" tIns="0" rIns="0" bIns="0"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Average poverty rate, latest available year per country</a:t>
            </a:r>
            <a:endParaRPr lang="en-US" sz="1300" dirty="0"/>
          </a:p>
        </p:txBody>
      </p:sp>
      <p:sp>
        <p:nvSpPr>
          <p:cNvPr id="6" name="Text 3"/>
          <p:cNvSpPr txBox="1"/>
          <p:nvPr/>
        </p:nvSpPr>
        <p:spPr>
          <a:xfrm>
            <a:off x="548640" y="5440680"/>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sp>
        <p:nvSpPr>
          <p:cNvPr id="7" name="Text 4"/>
          <p:cNvSpPr txBox="1"/>
          <p:nvPr/>
        </p:nvSpPr>
        <p:spPr>
          <a:xfrm>
            <a:off x="548640" y="5015087"/>
            <a:ext cx="10817888" cy="201168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Poverty drops sharply as income level rises — from nearly 50% in low-income countries to under 1% in high-income countries, a ~70x difference.</a:t>
            </a:r>
            <a:endParaRPr lang="en-US" sz="1300" dirty="0"/>
          </a:p>
        </p:txBody>
      </p:sp>
      <p:sp>
        <p:nvSpPr>
          <p:cNvPr id="8" name="Text 5"/>
          <p:cNvSpPr txBox="1"/>
          <p:nvPr/>
        </p:nvSpPr>
        <p:spPr>
          <a:xfrm>
            <a:off x="548639" y="5422930"/>
            <a:ext cx="10226925" cy="17373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The steepest gap is between low and lower-middle income — poverty is heavily concentrated in the poorest bracket rather than declining gradually.</a:t>
            </a:r>
            <a:endParaRPr lang="en-US" sz="1300" dirty="0"/>
          </a:p>
        </p:txBody>
      </p:sp>
      <p:pic>
        <p:nvPicPr>
          <p:cNvPr id="10" name="Picture 9">
            <a:extLst>
              <a:ext uri="{FF2B5EF4-FFF2-40B4-BE49-F238E27FC236}">
                <a16:creationId xmlns:a16="http://schemas.microsoft.com/office/drawing/2014/main" id="{B01281D0-2A8C-8773-D14E-CB38C0E4AAA0}"/>
              </a:ext>
            </a:extLst>
          </p:cNvPr>
          <p:cNvPicPr>
            <a:picLocks noChangeAspect="1"/>
          </p:cNvPicPr>
          <p:nvPr/>
        </p:nvPicPr>
        <p:blipFill>
          <a:blip r:embed="rId3"/>
          <a:srcRect t="4526"/>
          <a:stretch>
            <a:fillRect/>
          </a:stretch>
        </p:blipFill>
        <p:spPr>
          <a:xfrm>
            <a:off x="716591" y="2225658"/>
            <a:ext cx="10226925" cy="3288636"/>
          </a:xfrm>
          <a:prstGeom prst="rect">
            <a:avLst/>
          </a:prstGeom>
        </p:spPr>
      </p:pic>
      <p:sp>
        <p:nvSpPr>
          <p:cNvPr id="18" name="Text 5">
            <a:extLst>
              <a:ext uri="{FF2B5EF4-FFF2-40B4-BE49-F238E27FC236}">
                <a16:creationId xmlns:a16="http://schemas.microsoft.com/office/drawing/2014/main" id="{3A5049DE-F0C4-0C9A-EA96-AE79DB02847F}"/>
              </a:ext>
            </a:extLst>
          </p:cNvPr>
          <p:cNvSpPr txBox="1"/>
          <p:nvPr/>
        </p:nvSpPr>
        <p:spPr>
          <a:xfrm>
            <a:off x="548638" y="987504"/>
            <a:ext cx="10226925" cy="1737360"/>
          </a:xfrm>
          <a:prstGeom prst="rect">
            <a:avLst/>
          </a:prstGeom>
          <a:noFill/>
          <a:ln/>
        </p:spPr>
        <p:txBody>
          <a:bodyPr wrap="square" lIns="0" tIns="0" rIns="0" bIns="0" rtlCol="0" anchor="ctr"/>
          <a:lstStyle/>
          <a:p>
            <a:r>
              <a:rPr lang="en-IN" sz="1400" dirty="0"/>
              <a:t>This bar chart shows the average poverty rate for countries in each income classification — low, lower-middle, upper-middle, and high income — using each country's most recent available data</a:t>
            </a:r>
            <a:endParaRPr lang="en-US" sz="1300" dirty="0"/>
          </a:p>
        </p:txBody>
      </p:sp>
      <p:sp>
        <p:nvSpPr>
          <p:cNvPr id="5" name="TextBox 4">
            <a:extLst>
              <a:ext uri="{FF2B5EF4-FFF2-40B4-BE49-F238E27FC236}">
                <a16:creationId xmlns:a16="http://schemas.microsoft.com/office/drawing/2014/main" id="{4504BC16-E042-8B2E-95C4-C35492F081E4}"/>
              </a:ext>
            </a:extLst>
          </p:cNvPr>
          <p:cNvSpPr txBox="1"/>
          <p:nvPr/>
        </p:nvSpPr>
        <p:spPr>
          <a:xfrm>
            <a:off x="454867" y="1198271"/>
            <a:ext cx="6785687"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global_economic</a:t>
            </a:r>
            <a:r>
              <a:rPr lang="en-IN" sz="1400" dirty="0"/>
              <a:t> merged with </a:t>
            </a:r>
            <a:r>
              <a:rPr lang="en-IN" sz="1400" dirty="0" err="1"/>
              <a:t>country_reference</a:t>
            </a:r>
            <a:r>
              <a:rPr lang="en-IN" sz="1400" dirty="0"/>
              <a:t> on country_code3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13100"/>
            <a:ext cx="109728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Global Poverty Rate by Country</a:t>
            </a:r>
            <a:endParaRPr lang="en-US" sz="2800" dirty="0"/>
          </a:p>
        </p:txBody>
      </p:sp>
      <p:sp>
        <p:nvSpPr>
          <p:cNvPr id="3" name="Text 1"/>
          <p:cNvSpPr txBox="1"/>
          <p:nvPr/>
        </p:nvSpPr>
        <p:spPr>
          <a:xfrm>
            <a:off x="701040" y="648896"/>
            <a:ext cx="10972800" cy="365760"/>
          </a:xfrm>
          <a:prstGeom prst="rect">
            <a:avLst/>
          </a:prstGeom>
          <a:noFill/>
          <a:ln/>
        </p:spPr>
        <p:txBody>
          <a:bodyPr wrap="square" lIns="0" tIns="0" rIns="0" bIns="0"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Choropleth map, latest available year per country</a:t>
            </a:r>
            <a:endParaRPr lang="en-US" sz="1300" dirty="0"/>
          </a:p>
        </p:txBody>
      </p:sp>
      <p:sp>
        <p:nvSpPr>
          <p:cNvPr id="4" name="Shape 2"/>
          <p:cNvSpPr/>
          <p:nvPr/>
        </p:nvSpPr>
        <p:spPr>
          <a:xfrm>
            <a:off x="609600" y="2050299"/>
            <a:ext cx="11064240" cy="3657600"/>
          </a:xfrm>
          <a:prstGeom prst="roundRect">
            <a:avLst>
              <a:gd name="adj" fmla="val 1500"/>
            </a:avLst>
          </a:prstGeom>
          <a:solidFill>
            <a:srgbClr val="F2F6F8"/>
          </a:solidFill>
          <a:ln w="12700">
            <a:solidFill>
              <a:srgbClr val="DDE4E9"/>
            </a:solidFill>
            <a:prstDash val="solid"/>
          </a:ln>
        </p:spPr>
      </p:sp>
      <p:sp>
        <p:nvSpPr>
          <p:cNvPr id="5" name="Text 3"/>
          <p:cNvSpPr txBox="1"/>
          <p:nvPr/>
        </p:nvSpPr>
        <p:spPr>
          <a:xfrm>
            <a:off x="914400" y="3108960"/>
            <a:ext cx="10332720" cy="457200"/>
          </a:xfrm>
          <a:prstGeom prst="rect">
            <a:avLst/>
          </a:prstGeom>
          <a:noFill/>
          <a:ln/>
        </p:spPr>
        <p:txBody>
          <a:bodyPr wrap="square" lIns="0" tIns="0" rIns="0" bIns="0" rtlCol="0" anchor="ctr"/>
          <a:lstStyle/>
          <a:p>
            <a:pPr marL="0" indent="0" algn="ctr">
              <a:buNone/>
            </a:pPr>
            <a:r>
              <a:rPr lang="en-US" sz="1300" i="1" dirty="0">
                <a:solidFill>
                  <a:srgbClr val="5A6B78"/>
                </a:solidFill>
                <a:latin typeface="Calibri" pitchFamily="34" charset="0"/>
                <a:ea typeface="Calibri" pitchFamily="34" charset="-122"/>
                <a:cs typeface="Calibri" pitchFamily="34" charset="-120"/>
              </a:rPr>
              <a:t>[ World map: poverty_rate_pct, color scale Reds ]</a:t>
            </a:r>
            <a:endParaRPr lang="en-US" sz="1300" dirty="0"/>
          </a:p>
        </p:txBody>
      </p:sp>
      <p:sp>
        <p:nvSpPr>
          <p:cNvPr id="6" name="Text 4"/>
          <p:cNvSpPr txBox="1"/>
          <p:nvPr/>
        </p:nvSpPr>
        <p:spPr>
          <a:xfrm>
            <a:off x="609600" y="6096259"/>
            <a:ext cx="11064240" cy="8229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Geography makes the pattern immediate: poverty is visually concentrated in specific regions, particularly Sub-Saharan Africa and parts of South Asia, rather than spread evenly worldwide.</a:t>
            </a:r>
            <a:endParaRPr lang="en-US" sz="1400" dirty="0"/>
          </a:p>
        </p:txBody>
      </p:sp>
      <p:pic>
        <p:nvPicPr>
          <p:cNvPr id="8" name="Picture 7">
            <a:extLst>
              <a:ext uri="{FF2B5EF4-FFF2-40B4-BE49-F238E27FC236}">
                <a16:creationId xmlns:a16="http://schemas.microsoft.com/office/drawing/2014/main" id="{30C176A4-1783-4C9E-9960-DB0B3D613C55}"/>
              </a:ext>
            </a:extLst>
          </p:cNvPr>
          <p:cNvPicPr>
            <a:picLocks noChangeAspect="1"/>
          </p:cNvPicPr>
          <p:nvPr/>
        </p:nvPicPr>
        <p:blipFill>
          <a:blip r:embed="rId3"/>
          <a:stretch>
            <a:fillRect/>
          </a:stretch>
        </p:blipFill>
        <p:spPr>
          <a:xfrm>
            <a:off x="982090" y="2462743"/>
            <a:ext cx="10265030" cy="2987299"/>
          </a:xfrm>
          <a:prstGeom prst="rect">
            <a:avLst/>
          </a:prstGeom>
        </p:spPr>
      </p:pic>
      <p:sp>
        <p:nvSpPr>
          <p:cNvPr id="10" name="Text 3">
            <a:extLst>
              <a:ext uri="{FF2B5EF4-FFF2-40B4-BE49-F238E27FC236}">
                <a16:creationId xmlns:a16="http://schemas.microsoft.com/office/drawing/2014/main" id="{CE6F1320-1F0A-0CD0-4B0F-40C9A2230BC2}"/>
              </a:ext>
            </a:extLst>
          </p:cNvPr>
          <p:cNvSpPr txBox="1"/>
          <p:nvPr/>
        </p:nvSpPr>
        <p:spPr>
          <a:xfrm>
            <a:off x="609600" y="5843343"/>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sp>
        <p:nvSpPr>
          <p:cNvPr id="12" name="TextBox 11">
            <a:extLst>
              <a:ext uri="{FF2B5EF4-FFF2-40B4-BE49-F238E27FC236}">
                <a16:creationId xmlns:a16="http://schemas.microsoft.com/office/drawing/2014/main" id="{3F681B0E-D47A-8AB2-6BBE-D0E94B8A2B2A}"/>
              </a:ext>
            </a:extLst>
          </p:cNvPr>
          <p:cNvSpPr txBox="1"/>
          <p:nvPr/>
        </p:nvSpPr>
        <p:spPr>
          <a:xfrm>
            <a:off x="548640" y="1407958"/>
            <a:ext cx="10982960" cy="523220"/>
          </a:xfrm>
          <a:prstGeom prst="rect">
            <a:avLst/>
          </a:prstGeom>
          <a:noFill/>
        </p:spPr>
        <p:txBody>
          <a:bodyPr wrap="square">
            <a:spAutoFit/>
          </a:bodyPr>
          <a:lstStyle/>
          <a:p>
            <a:r>
              <a:rPr lang="en-IN" sz="1400" dirty="0"/>
              <a:t>Each country is shaded by its poverty rate — darker shades indicate higher poverty. Hover over any country to see its exact value, year, and income classification</a:t>
            </a:r>
          </a:p>
        </p:txBody>
      </p:sp>
      <p:sp>
        <p:nvSpPr>
          <p:cNvPr id="9" name="TextBox 8">
            <a:extLst>
              <a:ext uri="{FF2B5EF4-FFF2-40B4-BE49-F238E27FC236}">
                <a16:creationId xmlns:a16="http://schemas.microsoft.com/office/drawing/2014/main" id="{C0E69407-752B-27A0-2B51-86261DDC0961}"/>
              </a:ext>
            </a:extLst>
          </p:cNvPr>
          <p:cNvSpPr txBox="1"/>
          <p:nvPr/>
        </p:nvSpPr>
        <p:spPr>
          <a:xfrm>
            <a:off x="3048777" y="3138492"/>
            <a:ext cx="6813679"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global_economic</a:t>
            </a:r>
            <a:r>
              <a:rPr lang="en-IN" sz="1400" dirty="0"/>
              <a:t> merged with </a:t>
            </a:r>
            <a:r>
              <a:rPr lang="en-IN" sz="1400" dirty="0" err="1"/>
              <a:t>country_reference</a:t>
            </a:r>
            <a:r>
              <a:rPr lang="en-IN" sz="1400" dirty="0"/>
              <a:t> on country_code3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2F6F8"/>
        </a:solidFill>
        <a:effectLst/>
      </p:bgPr>
    </p:bg>
    <p:spTree>
      <p:nvGrpSpPr>
        <p:cNvPr id="1" name=""/>
        <p:cNvGrpSpPr/>
        <p:nvPr/>
      </p:nvGrpSpPr>
      <p:grpSpPr>
        <a:xfrm>
          <a:off x="0" y="0"/>
          <a:ext cx="0" cy="0"/>
          <a:chOff x="0" y="0"/>
          <a:chExt cx="0" cy="0"/>
        </a:xfrm>
      </p:grpSpPr>
      <p:sp>
        <p:nvSpPr>
          <p:cNvPr id="2" name="Text 0"/>
          <p:cNvSpPr txBox="1"/>
          <p:nvPr/>
        </p:nvSpPr>
        <p:spPr>
          <a:xfrm>
            <a:off x="548640" y="268673"/>
            <a:ext cx="109728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Distribution Within Income Groups</a:t>
            </a:r>
            <a:endParaRPr lang="en-US" sz="2800" dirty="0"/>
          </a:p>
        </p:txBody>
      </p:sp>
      <p:sp>
        <p:nvSpPr>
          <p:cNvPr id="3" name="Text 1"/>
          <p:cNvSpPr txBox="1"/>
          <p:nvPr/>
        </p:nvSpPr>
        <p:spPr>
          <a:xfrm>
            <a:off x="800566" y="753778"/>
            <a:ext cx="10972800" cy="365760"/>
          </a:xfrm>
          <a:prstGeom prst="rect">
            <a:avLst/>
          </a:prstGeom>
          <a:noFill/>
          <a:ln/>
        </p:spPr>
        <p:txBody>
          <a:bodyPr wrap="square" lIns="0" tIns="0" rIns="0" bIns="0"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Box plot of poverty rate by income level</a:t>
            </a:r>
            <a:endParaRPr lang="en-US" sz="1300" dirty="0"/>
          </a:p>
        </p:txBody>
      </p:sp>
      <p:sp>
        <p:nvSpPr>
          <p:cNvPr id="4" name="Shape 2"/>
          <p:cNvSpPr/>
          <p:nvPr/>
        </p:nvSpPr>
        <p:spPr>
          <a:xfrm>
            <a:off x="632615" y="1998235"/>
            <a:ext cx="11064240" cy="3657600"/>
          </a:xfrm>
          <a:prstGeom prst="roundRect">
            <a:avLst>
              <a:gd name="adj" fmla="val 1500"/>
            </a:avLst>
          </a:prstGeom>
          <a:solidFill>
            <a:srgbClr val="FFFFFF"/>
          </a:solidFill>
          <a:ln w="12700">
            <a:solidFill>
              <a:srgbClr val="DDE4E9"/>
            </a:solidFill>
            <a:prstDash val="solid"/>
          </a:ln>
        </p:spPr>
      </p:sp>
      <p:sp>
        <p:nvSpPr>
          <p:cNvPr id="5" name="Text 3"/>
          <p:cNvSpPr txBox="1"/>
          <p:nvPr/>
        </p:nvSpPr>
        <p:spPr>
          <a:xfrm>
            <a:off x="914400" y="3108960"/>
            <a:ext cx="10332720" cy="457200"/>
          </a:xfrm>
          <a:prstGeom prst="rect">
            <a:avLst/>
          </a:prstGeom>
          <a:noFill/>
          <a:ln/>
        </p:spPr>
        <p:txBody>
          <a:bodyPr wrap="square" lIns="0" tIns="0" rIns="0" bIns="0" rtlCol="0" anchor="ctr"/>
          <a:lstStyle/>
          <a:p>
            <a:pPr marL="0" indent="0" algn="ctr">
              <a:buNone/>
            </a:pPr>
            <a:r>
              <a:rPr lang="en-US" sz="1300" i="1" dirty="0">
                <a:solidFill>
                  <a:srgbClr val="5A6B78"/>
                </a:solidFill>
                <a:latin typeface="Calibri" pitchFamily="34" charset="0"/>
                <a:ea typeface="Calibri" pitchFamily="34" charset="-122"/>
                <a:cs typeface="Calibri" pitchFamily="34" charset="-120"/>
              </a:rPr>
              <a:t>[ Box plot: poverty_rate_pct by income_level, points='all' ]</a:t>
            </a:r>
            <a:endParaRPr lang="en-US" sz="1300" dirty="0"/>
          </a:p>
        </p:txBody>
      </p:sp>
      <p:sp>
        <p:nvSpPr>
          <p:cNvPr id="6" name="Text 4"/>
          <p:cNvSpPr txBox="1"/>
          <p:nvPr/>
        </p:nvSpPr>
        <p:spPr>
          <a:xfrm>
            <a:off x="632615" y="6066370"/>
            <a:ext cx="11064240" cy="822960"/>
          </a:xfrm>
          <a:prstGeom prst="rect">
            <a:avLst/>
          </a:prstGeom>
          <a:noFill/>
          <a:ln/>
        </p:spPr>
        <p:txBody>
          <a:bodyPr wrap="square" lIns="0" tIns="0" rIns="0" bIns="0" rtlCol="0" anchor="ctr"/>
          <a:lstStyle/>
          <a:p>
            <a:r>
              <a:rPr lang="en-IN" sz="1400" dirty="0"/>
              <a:t>Averages can hide a lot. This box plot shows the full range of poverty rates within each income group — not just the average — plus every country as a point, revealing which groups are consistent and which have big outliers.</a:t>
            </a:r>
            <a:endParaRPr lang="en-US" sz="1400" dirty="0"/>
          </a:p>
        </p:txBody>
      </p:sp>
      <p:pic>
        <p:nvPicPr>
          <p:cNvPr id="8" name="Picture 7">
            <a:extLst>
              <a:ext uri="{FF2B5EF4-FFF2-40B4-BE49-F238E27FC236}">
                <a16:creationId xmlns:a16="http://schemas.microsoft.com/office/drawing/2014/main" id="{E9AE0035-0EC9-594F-5DAD-3D4FC28961E7}"/>
              </a:ext>
            </a:extLst>
          </p:cNvPr>
          <p:cNvPicPr>
            <a:picLocks noChangeAspect="1"/>
          </p:cNvPicPr>
          <p:nvPr/>
        </p:nvPicPr>
        <p:blipFill>
          <a:blip r:embed="rId3"/>
          <a:stretch>
            <a:fillRect/>
          </a:stretch>
        </p:blipFill>
        <p:spPr>
          <a:xfrm>
            <a:off x="1107222" y="2422428"/>
            <a:ext cx="9947076" cy="3177815"/>
          </a:xfrm>
          <a:prstGeom prst="rect">
            <a:avLst/>
          </a:prstGeom>
        </p:spPr>
      </p:pic>
      <p:sp>
        <p:nvSpPr>
          <p:cNvPr id="10" name="Text 3">
            <a:extLst>
              <a:ext uri="{FF2B5EF4-FFF2-40B4-BE49-F238E27FC236}">
                <a16:creationId xmlns:a16="http://schemas.microsoft.com/office/drawing/2014/main" id="{B9137DD7-4AB8-4DC9-C14A-6D26F5B84D04}"/>
              </a:ext>
            </a:extLst>
          </p:cNvPr>
          <p:cNvSpPr txBox="1"/>
          <p:nvPr/>
        </p:nvSpPr>
        <p:spPr>
          <a:xfrm>
            <a:off x="632615" y="5827898"/>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sp>
        <p:nvSpPr>
          <p:cNvPr id="14" name="TextBox 13">
            <a:extLst>
              <a:ext uri="{FF2B5EF4-FFF2-40B4-BE49-F238E27FC236}">
                <a16:creationId xmlns:a16="http://schemas.microsoft.com/office/drawing/2014/main" id="{C7909174-CBAA-D13C-3D91-B44AB8DB09D1}"/>
              </a:ext>
            </a:extLst>
          </p:cNvPr>
          <p:cNvSpPr txBox="1"/>
          <p:nvPr/>
        </p:nvSpPr>
        <p:spPr>
          <a:xfrm>
            <a:off x="632615" y="1462804"/>
            <a:ext cx="10972800" cy="307777"/>
          </a:xfrm>
          <a:prstGeom prst="rect">
            <a:avLst/>
          </a:prstGeom>
          <a:noFill/>
        </p:spPr>
        <p:txBody>
          <a:bodyPr wrap="square">
            <a:spAutoFit/>
          </a:bodyPr>
          <a:lstStyle/>
          <a:p>
            <a:r>
              <a:rPr lang="en-IN" sz="1400" dirty="0"/>
              <a:t>Each box shows where most countries in that group fall; the line inside marks the median, and dots show individual countries, including outliers.</a:t>
            </a:r>
          </a:p>
        </p:txBody>
      </p:sp>
      <p:sp>
        <p:nvSpPr>
          <p:cNvPr id="9" name="TextBox 8">
            <a:extLst>
              <a:ext uri="{FF2B5EF4-FFF2-40B4-BE49-F238E27FC236}">
                <a16:creationId xmlns:a16="http://schemas.microsoft.com/office/drawing/2014/main" id="{A2F22DA3-EEE4-A27C-EBB5-33B7D701BC6E}"/>
              </a:ext>
            </a:extLst>
          </p:cNvPr>
          <p:cNvSpPr txBox="1"/>
          <p:nvPr/>
        </p:nvSpPr>
        <p:spPr>
          <a:xfrm>
            <a:off x="632615" y="1159596"/>
            <a:ext cx="7140251"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global_economic</a:t>
            </a:r>
            <a:r>
              <a:rPr lang="en-IN" sz="1400" dirty="0"/>
              <a:t> merged with </a:t>
            </a:r>
            <a:r>
              <a:rPr lang="en-IN" sz="1400" dirty="0" err="1"/>
              <a:t>country_reference</a:t>
            </a:r>
            <a:r>
              <a:rPr lang="en-IN" sz="1400" dirty="0"/>
              <a:t> on country_code3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F69A2DB-B352-E0D8-54D5-39D2EFD53C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98F9C0-413C-13E5-8164-F7EDED8D4105}"/>
              </a:ext>
            </a:extLst>
          </p:cNvPr>
          <p:cNvSpPr txBox="1"/>
          <p:nvPr/>
        </p:nvSpPr>
        <p:spPr>
          <a:xfrm>
            <a:off x="480059" y="266394"/>
            <a:ext cx="109728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GDP per Capita vs. Life Expectancy</a:t>
            </a:r>
            <a:endParaRPr lang="en-US" sz="2800" dirty="0"/>
          </a:p>
        </p:txBody>
      </p:sp>
      <p:sp>
        <p:nvSpPr>
          <p:cNvPr id="3" name="Text 1">
            <a:extLst>
              <a:ext uri="{FF2B5EF4-FFF2-40B4-BE49-F238E27FC236}">
                <a16:creationId xmlns:a16="http://schemas.microsoft.com/office/drawing/2014/main" id="{B46856DC-1FDF-8F3B-C9D1-61E1AECD3400}"/>
              </a:ext>
            </a:extLst>
          </p:cNvPr>
          <p:cNvSpPr txBox="1"/>
          <p:nvPr/>
        </p:nvSpPr>
        <p:spPr>
          <a:xfrm>
            <a:off x="594360" y="797560"/>
            <a:ext cx="10972800" cy="365760"/>
          </a:xfrm>
          <a:prstGeom prst="rect">
            <a:avLst/>
          </a:prstGeom>
          <a:noFill/>
          <a:ln/>
        </p:spPr>
        <p:txBody>
          <a:bodyPr wrap="square" lIns="0" tIns="0" rIns="0" bIns="0"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Scatter plot, log-scaled GDP per capita, colored by region</a:t>
            </a:r>
            <a:endParaRPr lang="en-US" sz="1300" dirty="0"/>
          </a:p>
        </p:txBody>
      </p:sp>
      <p:sp>
        <p:nvSpPr>
          <p:cNvPr id="4" name="Shape 2">
            <a:extLst>
              <a:ext uri="{FF2B5EF4-FFF2-40B4-BE49-F238E27FC236}">
                <a16:creationId xmlns:a16="http://schemas.microsoft.com/office/drawing/2014/main" id="{525AC71C-DB79-FFDB-6C34-67ABC8CB9CAA}"/>
              </a:ext>
            </a:extLst>
          </p:cNvPr>
          <p:cNvSpPr/>
          <p:nvPr/>
        </p:nvSpPr>
        <p:spPr>
          <a:xfrm>
            <a:off x="563880" y="2074499"/>
            <a:ext cx="11064240" cy="3657600"/>
          </a:xfrm>
          <a:prstGeom prst="roundRect">
            <a:avLst>
              <a:gd name="adj" fmla="val 1500"/>
            </a:avLst>
          </a:prstGeom>
          <a:solidFill>
            <a:srgbClr val="F2F6F8"/>
          </a:solidFill>
          <a:ln w="12700">
            <a:solidFill>
              <a:srgbClr val="DDE4E9"/>
            </a:solidFill>
            <a:prstDash val="solid"/>
          </a:ln>
        </p:spPr>
      </p:sp>
      <p:sp>
        <p:nvSpPr>
          <p:cNvPr id="5" name="Text 3">
            <a:extLst>
              <a:ext uri="{FF2B5EF4-FFF2-40B4-BE49-F238E27FC236}">
                <a16:creationId xmlns:a16="http://schemas.microsoft.com/office/drawing/2014/main" id="{93195161-0ED7-12FA-21D1-768C5E645093}"/>
              </a:ext>
            </a:extLst>
          </p:cNvPr>
          <p:cNvSpPr txBox="1"/>
          <p:nvPr/>
        </p:nvSpPr>
        <p:spPr>
          <a:xfrm>
            <a:off x="914400" y="3108960"/>
            <a:ext cx="10332720" cy="457200"/>
          </a:xfrm>
          <a:prstGeom prst="rect">
            <a:avLst/>
          </a:prstGeom>
          <a:noFill/>
          <a:ln/>
        </p:spPr>
        <p:txBody>
          <a:bodyPr wrap="square" lIns="0" tIns="0" rIns="0" bIns="0" rtlCol="0" anchor="ctr"/>
          <a:lstStyle/>
          <a:p>
            <a:pPr marL="0" indent="0" algn="ctr">
              <a:buNone/>
            </a:pPr>
            <a:r>
              <a:rPr lang="en-US" sz="1300" i="1" dirty="0">
                <a:solidFill>
                  <a:srgbClr val="5A6B78"/>
                </a:solidFill>
                <a:latin typeface="Calibri" pitchFamily="34" charset="0"/>
                <a:ea typeface="Calibri" pitchFamily="34" charset="-122"/>
                <a:cs typeface="Calibri" pitchFamily="34" charset="-120"/>
              </a:rPr>
              <a:t>[ Scatter: gdp_per_capita_usd (log) vs life_expectancy ]</a:t>
            </a:r>
            <a:endParaRPr lang="en-US" sz="1300" dirty="0"/>
          </a:p>
        </p:txBody>
      </p:sp>
      <p:sp>
        <p:nvSpPr>
          <p:cNvPr id="6" name="Text 4">
            <a:extLst>
              <a:ext uri="{FF2B5EF4-FFF2-40B4-BE49-F238E27FC236}">
                <a16:creationId xmlns:a16="http://schemas.microsoft.com/office/drawing/2014/main" id="{822827B3-75AE-150D-8F26-D77282945FD7}"/>
              </a:ext>
            </a:extLst>
          </p:cNvPr>
          <p:cNvSpPr txBox="1"/>
          <p:nvPr/>
        </p:nvSpPr>
        <p:spPr>
          <a:xfrm>
            <a:off x="563880" y="6035040"/>
            <a:ext cx="10888979" cy="8229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 classic diminishing-returns pattern: life expectancy rises steeply with GDP at lower income levels, then flattens — wealthier countries gain far less additional life expectancy per added dollar.</a:t>
            </a:r>
            <a:endParaRPr lang="en-US" sz="1400" dirty="0"/>
          </a:p>
        </p:txBody>
      </p:sp>
      <p:pic>
        <p:nvPicPr>
          <p:cNvPr id="8" name="Picture 7">
            <a:extLst>
              <a:ext uri="{FF2B5EF4-FFF2-40B4-BE49-F238E27FC236}">
                <a16:creationId xmlns:a16="http://schemas.microsoft.com/office/drawing/2014/main" id="{8C19BE56-879E-8E9D-155B-51E903C32E72}"/>
              </a:ext>
            </a:extLst>
          </p:cNvPr>
          <p:cNvPicPr>
            <a:picLocks noChangeAspect="1"/>
          </p:cNvPicPr>
          <p:nvPr/>
        </p:nvPicPr>
        <p:blipFill>
          <a:blip r:embed="rId3"/>
          <a:stretch>
            <a:fillRect/>
          </a:stretch>
        </p:blipFill>
        <p:spPr>
          <a:xfrm>
            <a:off x="867781" y="2455373"/>
            <a:ext cx="10379339" cy="2895851"/>
          </a:xfrm>
          <a:prstGeom prst="rect">
            <a:avLst/>
          </a:prstGeom>
        </p:spPr>
      </p:pic>
      <p:sp>
        <p:nvSpPr>
          <p:cNvPr id="10" name="Text 3">
            <a:extLst>
              <a:ext uri="{FF2B5EF4-FFF2-40B4-BE49-F238E27FC236}">
                <a16:creationId xmlns:a16="http://schemas.microsoft.com/office/drawing/2014/main" id="{E9D8D451-5517-ED9A-CAD8-BD2C5C1CFEA6}"/>
              </a:ext>
            </a:extLst>
          </p:cNvPr>
          <p:cNvSpPr txBox="1"/>
          <p:nvPr/>
        </p:nvSpPr>
        <p:spPr>
          <a:xfrm>
            <a:off x="609600" y="5859718"/>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sp>
        <p:nvSpPr>
          <p:cNvPr id="9" name="TextBox 8">
            <a:extLst>
              <a:ext uri="{FF2B5EF4-FFF2-40B4-BE49-F238E27FC236}">
                <a16:creationId xmlns:a16="http://schemas.microsoft.com/office/drawing/2014/main" id="{774B4E99-5804-5F58-CC71-872974F38D22}"/>
              </a:ext>
            </a:extLst>
          </p:cNvPr>
          <p:cNvSpPr txBox="1"/>
          <p:nvPr/>
        </p:nvSpPr>
        <p:spPr>
          <a:xfrm>
            <a:off x="520700" y="1415178"/>
            <a:ext cx="11120120" cy="584775"/>
          </a:xfrm>
          <a:prstGeom prst="rect">
            <a:avLst/>
          </a:prstGeom>
          <a:noFill/>
        </p:spPr>
        <p:txBody>
          <a:bodyPr wrap="square">
            <a:spAutoFit/>
          </a:bodyPr>
          <a:lstStyle/>
          <a:p>
            <a:r>
              <a:rPr lang="en-IN" sz="1400" dirty="0"/>
              <a:t>Each dot represents one country. Position along the x-axis shows GDP per capita (log scale), and position along the y-axis shows life expectancy. </a:t>
            </a:r>
            <a:r>
              <a:rPr lang="en-IN" sz="1400" dirty="0" err="1"/>
              <a:t>Color</a:t>
            </a:r>
            <a:r>
              <a:rPr lang="en-IN" sz="1400" dirty="0"/>
              <a:t> indicates region, and dot size reflects GDP per capita</a:t>
            </a:r>
            <a:r>
              <a:rPr lang="en-IN" dirty="0"/>
              <a:t>.</a:t>
            </a:r>
          </a:p>
        </p:txBody>
      </p:sp>
      <p:sp>
        <p:nvSpPr>
          <p:cNvPr id="11" name="TextBox 10">
            <a:extLst>
              <a:ext uri="{FF2B5EF4-FFF2-40B4-BE49-F238E27FC236}">
                <a16:creationId xmlns:a16="http://schemas.microsoft.com/office/drawing/2014/main" id="{91AF16DB-5B22-3A7A-9E64-AB705DB9CC3B}"/>
              </a:ext>
            </a:extLst>
          </p:cNvPr>
          <p:cNvSpPr txBox="1"/>
          <p:nvPr/>
        </p:nvSpPr>
        <p:spPr>
          <a:xfrm>
            <a:off x="551180" y="1117975"/>
            <a:ext cx="10011747"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global_economic</a:t>
            </a:r>
            <a:r>
              <a:rPr lang="en-IN" sz="1400" dirty="0"/>
              <a:t> merged with </a:t>
            </a:r>
            <a:r>
              <a:rPr lang="en-IN" sz="1400" dirty="0" err="1"/>
              <a:t>country_reference</a:t>
            </a:r>
            <a:r>
              <a:rPr lang="en-IN" sz="1400" dirty="0"/>
              <a:t> and dictionary </a:t>
            </a:r>
          </a:p>
        </p:txBody>
      </p:sp>
    </p:spTree>
    <p:extLst>
      <p:ext uri="{BB962C8B-B14F-4D97-AF65-F5344CB8AC3E}">
        <p14:creationId xmlns:p14="http://schemas.microsoft.com/office/powerpoint/2010/main" val="3050428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8000" y="182880"/>
            <a:ext cx="109728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rPr>
              <a:t>Share of Countries by Income Level</a:t>
            </a:r>
            <a:endParaRPr lang="en-US" sz="2800" dirty="0"/>
          </a:p>
        </p:txBody>
      </p:sp>
      <p:sp>
        <p:nvSpPr>
          <p:cNvPr id="3" name="Text 1"/>
          <p:cNvSpPr txBox="1"/>
          <p:nvPr/>
        </p:nvSpPr>
        <p:spPr>
          <a:xfrm>
            <a:off x="508000" y="677304"/>
            <a:ext cx="10972800" cy="365760"/>
          </a:xfrm>
          <a:prstGeom prst="rect">
            <a:avLst/>
          </a:prstGeom>
          <a:noFill/>
          <a:ln/>
        </p:spPr>
        <p:txBody>
          <a:bodyPr wrap="square" lIns="0" tIns="0" rIns="0" bIns="0" rtlCol="0" anchor="ctr"/>
          <a:lstStyle/>
          <a:p>
            <a:r>
              <a:rPr lang="en-US" sz="1300" i="1" dirty="0">
                <a:solidFill>
                  <a:schemeClr val="accent1">
                    <a:lumMod val="50000"/>
                  </a:schemeClr>
                </a:solidFill>
                <a:latin typeface="Calibri" pitchFamily="34" charset="0"/>
                <a:ea typeface="Calibri" pitchFamily="34" charset="-122"/>
                <a:cs typeface="Calibri" pitchFamily="34" charset="-120"/>
              </a:rPr>
              <a:t> </a:t>
            </a:r>
            <a:r>
              <a:rPr lang="en-IN" sz="1400" i="1" dirty="0">
                <a:solidFill>
                  <a:schemeClr val="accent1">
                    <a:lumMod val="50000"/>
                  </a:schemeClr>
                </a:solidFill>
              </a:rPr>
              <a:t>Proportion of all countries by income classification</a:t>
            </a:r>
            <a:endParaRPr lang="en-US" sz="1400" i="1" dirty="0">
              <a:solidFill>
                <a:schemeClr val="accent1">
                  <a:lumMod val="50000"/>
                </a:schemeClr>
              </a:solidFill>
            </a:endParaRPr>
          </a:p>
        </p:txBody>
      </p:sp>
      <p:sp>
        <p:nvSpPr>
          <p:cNvPr id="4" name="Shape 2"/>
          <p:cNvSpPr/>
          <p:nvPr/>
        </p:nvSpPr>
        <p:spPr>
          <a:xfrm>
            <a:off x="571542" y="2022208"/>
            <a:ext cx="11064240" cy="3657600"/>
          </a:xfrm>
          <a:prstGeom prst="roundRect">
            <a:avLst>
              <a:gd name="adj" fmla="val 1500"/>
            </a:avLst>
          </a:prstGeom>
          <a:solidFill>
            <a:srgbClr val="F2F6F8"/>
          </a:solidFill>
          <a:ln w="12700">
            <a:solidFill>
              <a:srgbClr val="DDE4E9"/>
            </a:solidFill>
            <a:prstDash val="solid"/>
          </a:ln>
        </p:spPr>
      </p:sp>
      <p:sp>
        <p:nvSpPr>
          <p:cNvPr id="5" name="Text 3"/>
          <p:cNvSpPr txBox="1"/>
          <p:nvPr/>
        </p:nvSpPr>
        <p:spPr>
          <a:xfrm>
            <a:off x="914400" y="3108960"/>
            <a:ext cx="10332720" cy="457200"/>
          </a:xfrm>
          <a:prstGeom prst="rect">
            <a:avLst/>
          </a:prstGeom>
          <a:noFill/>
          <a:ln/>
        </p:spPr>
        <p:txBody>
          <a:bodyPr wrap="square" lIns="0" tIns="0" rIns="0" bIns="0" rtlCol="0" anchor="ctr"/>
          <a:lstStyle/>
          <a:p>
            <a:pPr marL="0" indent="0" algn="ctr">
              <a:buNone/>
            </a:pPr>
            <a:r>
              <a:rPr lang="en-US" sz="1300" i="1" dirty="0">
                <a:solidFill>
                  <a:srgbClr val="5A6B78"/>
                </a:solidFill>
                <a:latin typeface="Calibri" pitchFamily="34" charset="0"/>
                <a:ea typeface="Calibri" pitchFamily="34" charset="-122"/>
                <a:cs typeface="Calibri" pitchFamily="34" charset="-120"/>
              </a:rPr>
              <a:t>[ Scatter: gdp_per_capita_usd (log) vs life_expectancy ]</a:t>
            </a:r>
            <a:endParaRPr lang="en-US" sz="1300" dirty="0"/>
          </a:p>
        </p:txBody>
      </p:sp>
      <p:sp>
        <p:nvSpPr>
          <p:cNvPr id="6" name="Text 4"/>
          <p:cNvSpPr txBox="1"/>
          <p:nvPr/>
        </p:nvSpPr>
        <p:spPr>
          <a:xfrm>
            <a:off x="609600" y="6035040"/>
            <a:ext cx="11064240" cy="822960"/>
          </a:xfrm>
          <a:prstGeom prst="rect">
            <a:avLst/>
          </a:prstGeom>
          <a:noFill/>
          <a:ln/>
        </p:spPr>
        <p:txBody>
          <a:bodyPr wrap="square" lIns="0" tIns="0" rIns="0" bIns="0" rtlCol="0" anchor="ctr"/>
          <a:lstStyle/>
          <a:p>
            <a:r>
              <a:rPr lang="en-IN" sz="1400" dirty="0"/>
              <a:t>High-income countries make up the largest share of the dataset (36%), while low-income countries are the smallest well-defined group (10.6%). This is useful context for the poverty findings — the ~50% average poverty rate in low-income countries reflects a relatively small group of countries, while the near-0% rate in high-income countries reflects the largest group</a:t>
            </a:r>
            <a:endParaRPr lang="en-US" sz="1400" dirty="0"/>
          </a:p>
        </p:txBody>
      </p:sp>
      <p:sp>
        <p:nvSpPr>
          <p:cNvPr id="10" name="Text 3">
            <a:extLst>
              <a:ext uri="{FF2B5EF4-FFF2-40B4-BE49-F238E27FC236}">
                <a16:creationId xmlns:a16="http://schemas.microsoft.com/office/drawing/2014/main" id="{98A1AB13-8A3B-600B-6206-3314BD7410A0}"/>
              </a:ext>
            </a:extLst>
          </p:cNvPr>
          <p:cNvSpPr txBox="1"/>
          <p:nvPr/>
        </p:nvSpPr>
        <p:spPr>
          <a:xfrm>
            <a:off x="609600" y="5728437"/>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pic>
        <p:nvPicPr>
          <p:cNvPr id="26" name="Picture 25">
            <a:extLst>
              <a:ext uri="{FF2B5EF4-FFF2-40B4-BE49-F238E27FC236}">
                <a16:creationId xmlns:a16="http://schemas.microsoft.com/office/drawing/2014/main" id="{10EF45C9-F120-6637-5A5F-D543B61CDB11}"/>
              </a:ext>
            </a:extLst>
          </p:cNvPr>
          <p:cNvPicPr>
            <a:picLocks noChangeAspect="1"/>
          </p:cNvPicPr>
          <p:nvPr/>
        </p:nvPicPr>
        <p:blipFill>
          <a:blip r:embed="rId3"/>
          <a:stretch>
            <a:fillRect/>
          </a:stretch>
        </p:blipFill>
        <p:spPr>
          <a:xfrm>
            <a:off x="718862" y="2253717"/>
            <a:ext cx="10754276" cy="3194581"/>
          </a:xfrm>
          <a:prstGeom prst="rect">
            <a:avLst/>
          </a:prstGeom>
        </p:spPr>
      </p:pic>
      <p:sp>
        <p:nvSpPr>
          <p:cNvPr id="28" name="TextBox 27">
            <a:extLst>
              <a:ext uri="{FF2B5EF4-FFF2-40B4-BE49-F238E27FC236}">
                <a16:creationId xmlns:a16="http://schemas.microsoft.com/office/drawing/2014/main" id="{990D8D94-C3AF-9148-FEC9-1E1AD7F99EA6}"/>
              </a:ext>
            </a:extLst>
          </p:cNvPr>
          <p:cNvSpPr txBox="1"/>
          <p:nvPr/>
        </p:nvSpPr>
        <p:spPr>
          <a:xfrm>
            <a:off x="563880" y="1459639"/>
            <a:ext cx="11064240" cy="523220"/>
          </a:xfrm>
          <a:prstGeom prst="rect">
            <a:avLst/>
          </a:prstGeom>
          <a:noFill/>
        </p:spPr>
        <p:txBody>
          <a:bodyPr wrap="square">
            <a:spAutoFit/>
          </a:bodyPr>
          <a:lstStyle/>
          <a:p>
            <a:r>
              <a:rPr lang="en-IN" sz="1400" dirty="0"/>
              <a:t>This chart provides context for the poverty findings shown earlier — knowing how many countries fall into each income bracket helps clarify whether those patterns are driven by a large or small group of countries..</a:t>
            </a:r>
          </a:p>
        </p:txBody>
      </p:sp>
      <p:sp>
        <p:nvSpPr>
          <p:cNvPr id="30" name="TextBox 29">
            <a:extLst>
              <a:ext uri="{FF2B5EF4-FFF2-40B4-BE49-F238E27FC236}">
                <a16:creationId xmlns:a16="http://schemas.microsoft.com/office/drawing/2014/main" id="{F3646338-F08D-6DA2-EF24-CB804F578235}"/>
              </a:ext>
            </a:extLst>
          </p:cNvPr>
          <p:cNvSpPr txBox="1"/>
          <p:nvPr/>
        </p:nvSpPr>
        <p:spPr>
          <a:xfrm>
            <a:off x="571542" y="1117188"/>
            <a:ext cx="8798560"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country_reference</a:t>
            </a:r>
            <a:r>
              <a:rPr lang="en-IN" sz="1400" dirty="0"/>
              <a:t> merged with </a:t>
            </a:r>
            <a:r>
              <a:rPr lang="en-IN" sz="1400" dirty="0" err="1"/>
              <a:t>global_economic</a:t>
            </a:r>
            <a:r>
              <a:rPr lang="en-IN" sz="1400" dirty="0"/>
              <a:t> on country_code3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2F6F8"/>
        </a:solidFill>
        <a:effectLst/>
      </p:bgPr>
    </p:bg>
    <p:spTree>
      <p:nvGrpSpPr>
        <p:cNvPr id="1" name=""/>
        <p:cNvGrpSpPr/>
        <p:nvPr/>
      </p:nvGrpSpPr>
      <p:grpSpPr>
        <a:xfrm>
          <a:off x="0" y="0"/>
          <a:ext cx="0" cy="0"/>
          <a:chOff x="0" y="0"/>
          <a:chExt cx="0" cy="0"/>
        </a:xfrm>
      </p:grpSpPr>
      <p:sp>
        <p:nvSpPr>
          <p:cNvPr id="2" name="Text 0"/>
          <p:cNvSpPr txBox="1"/>
          <p:nvPr/>
        </p:nvSpPr>
        <p:spPr>
          <a:xfrm>
            <a:off x="473353" y="104603"/>
            <a:ext cx="109728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GDP per Capita by Region, 2000–2024</a:t>
            </a:r>
            <a:endParaRPr lang="en-US" sz="2800" dirty="0"/>
          </a:p>
        </p:txBody>
      </p:sp>
      <p:sp>
        <p:nvSpPr>
          <p:cNvPr id="3" name="Text 1"/>
          <p:cNvSpPr txBox="1"/>
          <p:nvPr/>
        </p:nvSpPr>
        <p:spPr>
          <a:xfrm>
            <a:off x="745847" y="602054"/>
            <a:ext cx="10972800" cy="365760"/>
          </a:xfrm>
          <a:prstGeom prst="rect">
            <a:avLst/>
          </a:prstGeom>
          <a:noFill/>
          <a:ln/>
        </p:spPr>
        <p:txBody>
          <a:bodyPr wrap="square" lIns="0" tIns="0" rIns="0" bIns="0" rtlCol="0" anchor="ctr"/>
          <a:lstStyle/>
          <a:p>
            <a:pPr marL="0" indent="0">
              <a:buNone/>
            </a:pPr>
            <a:r>
              <a:rPr lang="en-US" sz="1300" i="1" dirty="0">
                <a:solidFill>
                  <a:srgbClr val="5A6B78"/>
                </a:solidFill>
                <a:latin typeface="Calibri" pitchFamily="34" charset="0"/>
                <a:ea typeface="Calibri" pitchFamily="34" charset="-122"/>
                <a:cs typeface="Calibri" pitchFamily="34" charset="-120"/>
              </a:rPr>
              <a:t>Regional trend lines, average GDP per capita per year</a:t>
            </a:r>
            <a:endParaRPr lang="en-US" sz="1300" dirty="0"/>
          </a:p>
        </p:txBody>
      </p:sp>
      <p:sp>
        <p:nvSpPr>
          <p:cNvPr id="4" name="Shape 2"/>
          <p:cNvSpPr/>
          <p:nvPr/>
        </p:nvSpPr>
        <p:spPr>
          <a:xfrm>
            <a:off x="609600" y="1836272"/>
            <a:ext cx="10972800" cy="3886200"/>
          </a:xfrm>
          <a:prstGeom prst="roundRect">
            <a:avLst>
              <a:gd name="adj" fmla="val 1500"/>
            </a:avLst>
          </a:prstGeom>
          <a:solidFill>
            <a:srgbClr val="FFFFFF"/>
          </a:solidFill>
          <a:ln w="12700">
            <a:solidFill>
              <a:srgbClr val="DDE4E9"/>
            </a:solidFill>
            <a:prstDash val="solid"/>
          </a:ln>
        </p:spPr>
      </p:sp>
      <p:sp>
        <p:nvSpPr>
          <p:cNvPr id="5" name="Text 3"/>
          <p:cNvSpPr txBox="1"/>
          <p:nvPr/>
        </p:nvSpPr>
        <p:spPr>
          <a:xfrm>
            <a:off x="914400" y="3108960"/>
            <a:ext cx="10332720" cy="457200"/>
          </a:xfrm>
          <a:prstGeom prst="rect">
            <a:avLst/>
          </a:prstGeom>
          <a:noFill/>
          <a:ln/>
        </p:spPr>
        <p:txBody>
          <a:bodyPr wrap="square" lIns="0" tIns="0" rIns="0" bIns="0" rtlCol="0" anchor="ctr"/>
          <a:lstStyle/>
          <a:p>
            <a:pPr marL="0" indent="0" algn="ctr">
              <a:buNone/>
            </a:pPr>
            <a:r>
              <a:rPr lang="en-US" sz="1300" i="1" dirty="0">
                <a:solidFill>
                  <a:srgbClr val="5A6B78"/>
                </a:solidFill>
                <a:latin typeface="Calibri" pitchFamily="34" charset="0"/>
                <a:ea typeface="Calibri" pitchFamily="34" charset="-122"/>
                <a:cs typeface="Calibri" pitchFamily="34" charset="-120"/>
              </a:rPr>
              <a:t>[ Line chart: gdp_per_capita_usd by region, 2000–2024 ]</a:t>
            </a:r>
            <a:endParaRPr lang="en-US" sz="1300" dirty="0"/>
          </a:p>
        </p:txBody>
      </p:sp>
      <p:sp>
        <p:nvSpPr>
          <p:cNvPr id="6" name="Text 4"/>
          <p:cNvSpPr txBox="1"/>
          <p:nvPr/>
        </p:nvSpPr>
        <p:spPr>
          <a:xfrm>
            <a:off x="624840" y="6080760"/>
            <a:ext cx="11064240" cy="822960"/>
          </a:xfrm>
          <a:prstGeom prst="rect">
            <a:avLst/>
          </a:prstGeom>
          <a:noFill/>
          <a:ln/>
        </p:spPr>
        <p:txBody>
          <a:bodyPr wrap="square" lIns="0" tIns="0" rIns="0" bIns="0" rtlCol="0" anchor="ctr"/>
          <a:lstStyle/>
          <a:p>
            <a:r>
              <a:rPr lang="en-IN" sz="1400" dirty="0"/>
              <a:t>Regional GDP gaps are large and persistent — the gap between wealthier and poorer regions has not meaningfully narrowed across the 24-year period, suggesting that global economic growth has not been evenly shared.</a:t>
            </a:r>
            <a:r>
              <a:rPr lang="en-US" sz="1400" dirty="0">
                <a:solidFill>
                  <a:srgbClr val="1A1A1A"/>
                </a:solidFill>
                <a:latin typeface="Calibri" pitchFamily="34" charset="0"/>
                <a:ea typeface="Calibri" pitchFamily="34" charset="-122"/>
                <a:cs typeface="Calibri" pitchFamily="34" charset="-120"/>
              </a:rPr>
              <a:t>.</a:t>
            </a:r>
            <a:endParaRPr lang="en-US" sz="1400" dirty="0"/>
          </a:p>
        </p:txBody>
      </p:sp>
      <p:pic>
        <p:nvPicPr>
          <p:cNvPr id="8" name="Picture 7">
            <a:extLst>
              <a:ext uri="{FF2B5EF4-FFF2-40B4-BE49-F238E27FC236}">
                <a16:creationId xmlns:a16="http://schemas.microsoft.com/office/drawing/2014/main" id="{65DB3B80-E462-1EF5-BDB6-23682CCD3C65}"/>
              </a:ext>
            </a:extLst>
          </p:cNvPr>
          <p:cNvPicPr>
            <a:picLocks noChangeAspect="1"/>
          </p:cNvPicPr>
          <p:nvPr/>
        </p:nvPicPr>
        <p:blipFill>
          <a:blip r:embed="rId3"/>
          <a:stretch>
            <a:fillRect/>
          </a:stretch>
        </p:blipFill>
        <p:spPr>
          <a:xfrm>
            <a:off x="914400" y="2567679"/>
            <a:ext cx="10531753" cy="3010161"/>
          </a:xfrm>
          <a:prstGeom prst="rect">
            <a:avLst/>
          </a:prstGeom>
        </p:spPr>
      </p:pic>
      <p:sp>
        <p:nvSpPr>
          <p:cNvPr id="10" name="Text 3">
            <a:extLst>
              <a:ext uri="{FF2B5EF4-FFF2-40B4-BE49-F238E27FC236}">
                <a16:creationId xmlns:a16="http://schemas.microsoft.com/office/drawing/2014/main" id="{E924300C-24F4-A38B-D8E8-380286A0D6DD}"/>
              </a:ext>
            </a:extLst>
          </p:cNvPr>
          <p:cNvSpPr txBox="1"/>
          <p:nvPr/>
        </p:nvSpPr>
        <p:spPr>
          <a:xfrm>
            <a:off x="624840" y="5854163"/>
            <a:ext cx="5654351"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takeaway</a:t>
            </a:r>
            <a:endParaRPr lang="en-US" sz="1400" dirty="0"/>
          </a:p>
        </p:txBody>
      </p:sp>
      <p:sp>
        <p:nvSpPr>
          <p:cNvPr id="12" name="TextBox 11">
            <a:extLst>
              <a:ext uri="{FF2B5EF4-FFF2-40B4-BE49-F238E27FC236}">
                <a16:creationId xmlns:a16="http://schemas.microsoft.com/office/drawing/2014/main" id="{C39CA03A-F4C6-F96E-8280-5F660A01C2FA}"/>
              </a:ext>
            </a:extLst>
          </p:cNvPr>
          <p:cNvSpPr txBox="1"/>
          <p:nvPr/>
        </p:nvSpPr>
        <p:spPr>
          <a:xfrm>
            <a:off x="624840" y="1216374"/>
            <a:ext cx="10698480" cy="523220"/>
          </a:xfrm>
          <a:prstGeom prst="rect">
            <a:avLst/>
          </a:prstGeom>
          <a:noFill/>
        </p:spPr>
        <p:txBody>
          <a:bodyPr wrap="square">
            <a:spAutoFit/>
          </a:bodyPr>
          <a:lstStyle/>
          <a:p>
            <a:r>
              <a:rPr lang="en-IN" sz="1400" dirty="0"/>
              <a:t>Each line represents one region, tracked from 2000 to 2024. The vertical position shows average GDP per capita that year — lines further apart indicate a larger wealth gap between regions.</a:t>
            </a:r>
          </a:p>
        </p:txBody>
      </p:sp>
      <p:sp>
        <p:nvSpPr>
          <p:cNvPr id="9" name="TextBox 8">
            <a:extLst>
              <a:ext uri="{FF2B5EF4-FFF2-40B4-BE49-F238E27FC236}">
                <a16:creationId xmlns:a16="http://schemas.microsoft.com/office/drawing/2014/main" id="{0B856B6E-EEA6-98A7-64DF-3CEFAF6A3EB8}"/>
              </a:ext>
            </a:extLst>
          </p:cNvPr>
          <p:cNvSpPr txBox="1"/>
          <p:nvPr/>
        </p:nvSpPr>
        <p:spPr>
          <a:xfrm>
            <a:off x="624840" y="934922"/>
            <a:ext cx="6804349" cy="307777"/>
          </a:xfrm>
          <a:prstGeom prst="rect">
            <a:avLst/>
          </a:prstGeom>
          <a:noFill/>
        </p:spPr>
        <p:txBody>
          <a:bodyPr wrap="square">
            <a:spAutoFit/>
          </a:bodyPr>
          <a:lstStyle/>
          <a:p>
            <a:r>
              <a:rPr lang="en-IN" sz="1400" b="1" dirty="0">
                <a:solidFill>
                  <a:schemeClr val="accent1">
                    <a:lumMod val="50000"/>
                  </a:schemeClr>
                </a:solidFill>
              </a:rPr>
              <a:t>Data source</a:t>
            </a:r>
            <a:r>
              <a:rPr lang="en-IN" sz="1400" dirty="0"/>
              <a:t>: </a:t>
            </a:r>
            <a:r>
              <a:rPr lang="en-IN" sz="1400" dirty="0" err="1"/>
              <a:t>global_economic</a:t>
            </a:r>
            <a:r>
              <a:rPr lang="en-IN" sz="1400" dirty="0"/>
              <a:t> merged with </a:t>
            </a:r>
            <a:r>
              <a:rPr lang="en-IN" sz="1400" dirty="0" err="1"/>
              <a:t>country_reference</a:t>
            </a:r>
            <a:r>
              <a:rPr lang="en-IN" sz="1400" dirty="0"/>
              <a:t> on country_code3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a:effectLst/>
      </p:bgPr>
    </p:bg>
    <p:spTree>
      <p:nvGrpSpPr>
        <p:cNvPr id="1" name=""/>
        <p:cNvGrpSpPr/>
        <p:nvPr/>
      </p:nvGrpSpPr>
      <p:grpSpPr>
        <a:xfrm>
          <a:off x="0" y="0"/>
          <a:ext cx="0" cy="0"/>
          <a:chOff x="0" y="0"/>
          <a:chExt cx="0" cy="0"/>
        </a:xfrm>
      </p:grpSpPr>
      <p:sp>
        <p:nvSpPr>
          <p:cNvPr id="2" name="Text 0"/>
          <p:cNvSpPr txBox="1"/>
          <p:nvPr/>
        </p:nvSpPr>
        <p:spPr>
          <a:xfrm>
            <a:off x="609600" y="220980"/>
            <a:ext cx="109728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Key Findings</a:t>
            </a:r>
            <a:endParaRPr lang="en-US" sz="3200" dirty="0"/>
          </a:p>
        </p:txBody>
      </p:sp>
      <p:sp>
        <p:nvSpPr>
          <p:cNvPr id="3" name="Shape 1"/>
          <p:cNvSpPr/>
          <p:nvPr/>
        </p:nvSpPr>
        <p:spPr>
          <a:xfrm>
            <a:off x="652272" y="1370584"/>
            <a:ext cx="128016" cy="128016"/>
          </a:xfrm>
          <a:prstGeom prst="ellipse">
            <a:avLst/>
          </a:prstGeom>
          <a:solidFill>
            <a:srgbClr val="E8A33D"/>
          </a:solidFill>
          <a:ln/>
        </p:spPr>
      </p:sp>
      <p:sp>
        <p:nvSpPr>
          <p:cNvPr id="4" name="Text 2"/>
          <p:cNvSpPr txBox="1"/>
          <p:nvPr/>
        </p:nvSpPr>
        <p:spPr>
          <a:xfrm>
            <a:off x="1071880" y="1416812"/>
            <a:ext cx="10515600" cy="594360"/>
          </a:xfrm>
          <a:prstGeom prst="rect">
            <a:avLst/>
          </a:prstGeom>
          <a:noFill/>
          <a:ln/>
        </p:spPr>
        <p:txBody>
          <a:bodyPr wrap="square" lIns="0" tIns="0" rIns="0" bIns="0" rtlCol="0" anchor="ctr"/>
          <a:lstStyle/>
          <a:p>
            <a:r>
              <a:rPr lang="en-IN" sz="1600" b="1" dirty="0"/>
              <a:t>1. Poverty and Income Classification</a:t>
            </a:r>
            <a:br>
              <a:rPr lang="en-IN" sz="1600" dirty="0"/>
            </a:br>
            <a:r>
              <a:rPr lang="en-IN" sz="1600" dirty="0"/>
              <a:t>Poverty rate rises steeply from high-income (0.71%) to low-income (49.68%) countries. The gap isn't gradual — the biggest jump is between low and lower-middle income specifically. This suggests income classification alone can roughly predict poverty severity.</a:t>
            </a:r>
            <a:endParaRPr lang="en-US" sz="1500" dirty="0"/>
          </a:p>
        </p:txBody>
      </p:sp>
      <p:sp>
        <p:nvSpPr>
          <p:cNvPr id="5" name="Shape 3"/>
          <p:cNvSpPr/>
          <p:nvPr/>
        </p:nvSpPr>
        <p:spPr>
          <a:xfrm>
            <a:off x="652272" y="2445512"/>
            <a:ext cx="128016" cy="128016"/>
          </a:xfrm>
          <a:prstGeom prst="ellipse">
            <a:avLst/>
          </a:prstGeom>
          <a:solidFill>
            <a:srgbClr val="E8A33D"/>
          </a:solidFill>
          <a:ln/>
        </p:spPr>
      </p:sp>
      <p:sp>
        <p:nvSpPr>
          <p:cNvPr id="6" name="Text 4"/>
          <p:cNvSpPr txBox="1"/>
          <p:nvPr/>
        </p:nvSpPr>
        <p:spPr>
          <a:xfrm>
            <a:off x="960120" y="2509520"/>
            <a:ext cx="10515600" cy="594360"/>
          </a:xfrm>
          <a:prstGeom prst="rect">
            <a:avLst/>
          </a:prstGeom>
          <a:noFill/>
          <a:ln/>
        </p:spPr>
        <p:txBody>
          <a:bodyPr wrap="square" lIns="0" tIns="0" rIns="0" bIns="0" rtlCol="0" anchor="ctr"/>
          <a:lstStyle/>
          <a:p>
            <a:r>
              <a:rPr lang="en-IN" sz="1600" b="1" dirty="0"/>
              <a:t>2. Wealth vs. Poverty Isn't a Perfect Relationship</a:t>
            </a:r>
            <a:br>
              <a:rPr lang="en-IN" sz="1600" dirty="0"/>
            </a:br>
            <a:r>
              <a:rPr lang="en-IN" sz="1600" dirty="0"/>
              <a:t>The GDP vs. poverty scatter plot confirms the same pattern at the individual country level, not just group averages. Some countries sit far from the general trend — unexpectedly low or high poverty for their GDP. These outliers are worth investigating further, as they may reflect strong social policy, conflict, inequality, or data quality issues.</a:t>
            </a:r>
            <a:endParaRPr lang="en-US" sz="1500" dirty="0"/>
          </a:p>
        </p:txBody>
      </p:sp>
      <p:sp>
        <p:nvSpPr>
          <p:cNvPr id="7" name="Shape 5"/>
          <p:cNvSpPr/>
          <p:nvPr/>
        </p:nvSpPr>
        <p:spPr>
          <a:xfrm>
            <a:off x="640080" y="3401568"/>
            <a:ext cx="128016" cy="128016"/>
          </a:xfrm>
          <a:prstGeom prst="ellipse">
            <a:avLst/>
          </a:prstGeom>
          <a:solidFill>
            <a:srgbClr val="E8A33D"/>
          </a:solidFill>
          <a:ln/>
        </p:spPr>
      </p:sp>
      <p:sp>
        <p:nvSpPr>
          <p:cNvPr id="8" name="Text 6"/>
          <p:cNvSpPr txBox="1"/>
          <p:nvPr/>
        </p:nvSpPr>
        <p:spPr>
          <a:xfrm>
            <a:off x="960120" y="3528060"/>
            <a:ext cx="10515600" cy="594360"/>
          </a:xfrm>
          <a:prstGeom prst="rect">
            <a:avLst/>
          </a:prstGeom>
          <a:noFill/>
          <a:ln/>
        </p:spPr>
        <p:txBody>
          <a:bodyPr wrap="square" lIns="0" tIns="0" rIns="0" bIns="0" rtlCol="0" anchor="ctr"/>
          <a:lstStyle/>
          <a:p>
            <a:r>
              <a:rPr lang="en-IN" sz="1600" b="1" dirty="0"/>
              <a:t>3. Persistent Regional GDP Gaps</a:t>
            </a:r>
            <a:br>
              <a:rPr lang="en-IN" sz="1600" dirty="0"/>
            </a:br>
            <a:r>
              <a:rPr lang="en-IN" sz="1600" dirty="0"/>
              <a:t>Some regions have consistently lower GDP per capita than others across the entire 24-year window. This gap has not meaningfully closed despite global economic growth overall — raising the question of whether growth is being shared evenly across the globe. It doesn't appear to be.</a:t>
            </a:r>
            <a:endParaRPr lang="en-US" sz="1500" dirty="0"/>
          </a:p>
        </p:txBody>
      </p:sp>
      <p:sp>
        <p:nvSpPr>
          <p:cNvPr id="9" name="Shape 7"/>
          <p:cNvSpPr/>
          <p:nvPr/>
        </p:nvSpPr>
        <p:spPr>
          <a:xfrm>
            <a:off x="640080" y="4550156"/>
            <a:ext cx="128016" cy="128016"/>
          </a:xfrm>
          <a:prstGeom prst="ellipse">
            <a:avLst/>
          </a:prstGeom>
          <a:solidFill>
            <a:srgbClr val="E8A33D"/>
          </a:solidFill>
          <a:ln/>
        </p:spPr>
      </p:sp>
      <p:sp>
        <p:nvSpPr>
          <p:cNvPr id="10" name="Text 8"/>
          <p:cNvSpPr txBox="1"/>
          <p:nvPr/>
        </p:nvSpPr>
        <p:spPr>
          <a:xfrm>
            <a:off x="960120" y="4678172"/>
            <a:ext cx="10515600" cy="435864"/>
          </a:xfrm>
          <a:prstGeom prst="rect">
            <a:avLst/>
          </a:prstGeom>
          <a:noFill/>
          <a:ln/>
        </p:spPr>
        <p:txBody>
          <a:bodyPr wrap="square" lIns="0" tIns="0" rIns="0" bIns="0" rtlCol="0" anchor="ctr"/>
          <a:lstStyle/>
          <a:p>
            <a:r>
              <a:rPr lang="en-IN" sz="1600" b="1" dirty="0"/>
              <a:t>4. GDP and Life Expectancy — Diminishing Returns</a:t>
            </a:r>
            <a:br>
              <a:rPr lang="en-IN" sz="1600" dirty="0"/>
            </a:br>
            <a:r>
              <a:rPr lang="en-IN" sz="1600" dirty="0"/>
              <a:t>Early GDP increases (very poor to lower-middle income) produce large gains in life expectancy. Beyond a certain GDP threshold, additional wealth adds progressively less. This is a well-documented pattern in global development economics, not unique to this dataset.</a:t>
            </a:r>
            <a:endParaRPr lang="en-US" sz="1500" dirty="0"/>
          </a:p>
        </p:txBody>
      </p:sp>
      <p:sp>
        <p:nvSpPr>
          <p:cNvPr id="11" name="Shape 9"/>
          <p:cNvSpPr/>
          <p:nvPr/>
        </p:nvSpPr>
        <p:spPr>
          <a:xfrm flipV="1">
            <a:off x="588264" y="5634736"/>
            <a:ext cx="128016" cy="128016"/>
          </a:xfrm>
          <a:prstGeom prst="ellipse">
            <a:avLst/>
          </a:prstGeom>
          <a:solidFill>
            <a:srgbClr val="E8A33D"/>
          </a:solidFill>
          <a:ln/>
        </p:spPr>
      </p:sp>
      <p:sp>
        <p:nvSpPr>
          <p:cNvPr id="12" name="Text 10"/>
          <p:cNvSpPr txBox="1"/>
          <p:nvPr/>
        </p:nvSpPr>
        <p:spPr>
          <a:xfrm>
            <a:off x="960120" y="5441188"/>
            <a:ext cx="10515600" cy="786892"/>
          </a:xfrm>
          <a:prstGeom prst="rect">
            <a:avLst/>
          </a:prstGeom>
          <a:noFill/>
          <a:ln/>
        </p:spPr>
        <p:txBody>
          <a:bodyPr wrap="square" lIns="0" tIns="0" rIns="0" bIns="0" rtlCol="0" anchor="ctr"/>
          <a:lstStyle/>
          <a:p>
            <a:r>
              <a:rPr lang="en-IN" sz="1600" b="1" dirty="0"/>
              <a:t>5. Geographic Concentration of Poverty</a:t>
            </a:r>
            <a:br>
              <a:rPr lang="en-IN" sz="1600" dirty="0"/>
            </a:br>
            <a:r>
              <a:rPr lang="en-IN" sz="1600" dirty="0" err="1"/>
              <a:t>Poverty</a:t>
            </a:r>
            <a:r>
              <a:rPr lang="en-IN" sz="1600" dirty="0"/>
              <a:t> is not spread evenly — it's visually clustered on the world map in specific regions, particularly Sub-Saharan Africa and parts of South Asia. Geography and economic history are clearly intertwined in this pattern.</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94360" y="22860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Limitations &amp; Conclusion</a:t>
            </a:r>
            <a:endParaRPr lang="en-US" sz="3200" dirty="0"/>
          </a:p>
        </p:txBody>
      </p:sp>
      <p:sp>
        <p:nvSpPr>
          <p:cNvPr id="3" name="Text 1"/>
          <p:cNvSpPr txBox="1"/>
          <p:nvPr/>
        </p:nvSpPr>
        <p:spPr>
          <a:xfrm>
            <a:off x="731520" y="960120"/>
            <a:ext cx="5120640" cy="36576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Limitations</a:t>
            </a:r>
            <a:endParaRPr lang="en-US" sz="1600" dirty="0"/>
          </a:p>
        </p:txBody>
      </p:sp>
      <p:sp>
        <p:nvSpPr>
          <p:cNvPr id="4" name="Text 2"/>
          <p:cNvSpPr txBox="1"/>
          <p:nvPr/>
        </p:nvSpPr>
        <p:spPr>
          <a:xfrm>
            <a:off x="731520" y="1325880"/>
            <a:ext cx="49682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Some indicators (e.g. tourism) end at 2020, limiting recent-year analysis</a:t>
            </a:r>
            <a:endParaRPr lang="en-US" sz="1300" dirty="0"/>
          </a:p>
        </p:txBody>
      </p:sp>
      <p:sp>
        <p:nvSpPr>
          <p:cNvPr id="5" name="Text 3"/>
          <p:cNvSpPr txBox="1"/>
          <p:nvPr/>
        </p:nvSpPr>
        <p:spPr>
          <a:xfrm>
            <a:off x="731520" y="1828799"/>
            <a:ext cx="51206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A few indicators blend multiple sources, which may vary in methodology</a:t>
            </a:r>
            <a:endParaRPr lang="en-US" sz="1300" dirty="0"/>
          </a:p>
        </p:txBody>
      </p:sp>
      <p:sp>
        <p:nvSpPr>
          <p:cNvPr id="6" name="Text 4"/>
          <p:cNvSpPr txBox="1"/>
          <p:nvPr/>
        </p:nvSpPr>
        <p:spPr>
          <a:xfrm>
            <a:off x="731520" y="2354580"/>
            <a:ext cx="51206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Some reference values were filled with placeholders rather than dropped, to preserve full country coverage</a:t>
            </a:r>
            <a:endParaRPr lang="en-US" sz="1300" dirty="0"/>
          </a:p>
        </p:txBody>
      </p:sp>
      <p:sp>
        <p:nvSpPr>
          <p:cNvPr id="7" name="Text 5"/>
          <p:cNvSpPr txBox="1"/>
          <p:nvPr/>
        </p:nvSpPr>
        <p:spPr>
          <a:xfrm>
            <a:off x="6817360" y="914400"/>
            <a:ext cx="5120640" cy="36576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Next Steps</a:t>
            </a:r>
            <a:endParaRPr lang="en-US" sz="1600" dirty="0"/>
          </a:p>
        </p:txBody>
      </p:sp>
      <p:sp>
        <p:nvSpPr>
          <p:cNvPr id="8" name="Text 6"/>
          <p:cNvSpPr txBox="1"/>
          <p:nvPr/>
        </p:nvSpPr>
        <p:spPr>
          <a:xfrm>
            <a:off x="6492242" y="1325880"/>
            <a:ext cx="51206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Extend analysis to Governance, Environment, and Innovation indicators</a:t>
            </a:r>
            <a:endParaRPr lang="en-US" sz="1300" dirty="0"/>
          </a:p>
        </p:txBody>
      </p:sp>
      <p:sp>
        <p:nvSpPr>
          <p:cNvPr id="9" name="Text 7"/>
          <p:cNvSpPr txBox="1"/>
          <p:nvPr/>
        </p:nvSpPr>
        <p:spPr>
          <a:xfrm>
            <a:off x="6497322" y="1874520"/>
            <a:ext cx="51206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Investigate specific outlier countries flagged in the scatter plots</a:t>
            </a:r>
            <a:endParaRPr lang="en-US" sz="1300" dirty="0"/>
          </a:p>
        </p:txBody>
      </p:sp>
      <p:sp>
        <p:nvSpPr>
          <p:cNvPr id="10" name="Text 8"/>
          <p:cNvSpPr txBox="1"/>
          <p:nvPr/>
        </p:nvSpPr>
        <p:spPr>
          <a:xfrm>
            <a:off x="6492242" y="2354580"/>
            <a:ext cx="5120640" cy="640080"/>
          </a:xfrm>
          <a:prstGeom prst="rect">
            <a:avLst/>
          </a:prstGeom>
          <a:noFill/>
          <a:ln/>
        </p:spPr>
        <p:txBody>
          <a:bodyPr wrap="square" lIns="0" tIns="0" rIns="0" bIns="0" rtlCol="0" anchor="ctr"/>
          <a:lstStyle/>
          <a:p>
            <a:pPr marL="0" indent="0">
              <a:buNone/>
            </a:pPr>
            <a:r>
              <a:rPr lang="en-US" sz="1300" dirty="0">
                <a:solidFill>
                  <a:srgbClr val="F2F6F8"/>
                </a:solidFill>
                <a:latin typeface="Calibri" pitchFamily="34" charset="0"/>
                <a:ea typeface="Calibri" pitchFamily="34" charset="-122"/>
                <a:cs typeface="Calibri" pitchFamily="34" charset="-120"/>
              </a:rPr>
              <a:t>• Explore a simple predictive model for poverty rate using related indicators</a:t>
            </a:r>
            <a:endParaRPr lang="en-US" sz="1300" dirty="0"/>
          </a:p>
        </p:txBody>
      </p:sp>
      <p:sp>
        <p:nvSpPr>
          <p:cNvPr id="11" name="Shape 9"/>
          <p:cNvSpPr/>
          <p:nvPr/>
        </p:nvSpPr>
        <p:spPr>
          <a:xfrm>
            <a:off x="489204" y="5374640"/>
            <a:ext cx="10725912" cy="0"/>
          </a:xfrm>
          <a:prstGeom prst="line">
            <a:avLst/>
          </a:prstGeom>
          <a:noFill/>
          <a:ln w="12700">
            <a:solidFill>
              <a:srgbClr val="3A4570"/>
            </a:solidFill>
            <a:prstDash val="solid"/>
          </a:ln>
        </p:spPr>
      </p:sp>
      <p:sp>
        <p:nvSpPr>
          <p:cNvPr id="12" name="Text 10"/>
          <p:cNvSpPr txBox="1"/>
          <p:nvPr/>
        </p:nvSpPr>
        <p:spPr>
          <a:xfrm>
            <a:off x="731520" y="5715000"/>
            <a:ext cx="10725912"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5" name="Text 1">
            <a:extLst>
              <a:ext uri="{FF2B5EF4-FFF2-40B4-BE49-F238E27FC236}">
                <a16:creationId xmlns:a16="http://schemas.microsoft.com/office/drawing/2014/main" id="{156099D2-13AD-954D-FB7D-F2FABB530238}"/>
              </a:ext>
            </a:extLst>
          </p:cNvPr>
          <p:cNvSpPr txBox="1"/>
          <p:nvPr/>
        </p:nvSpPr>
        <p:spPr>
          <a:xfrm>
            <a:off x="731520" y="3007360"/>
            <a:ext cx="5120640" cy="36576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Conclusion</a:t>
            </a:r>
            <a:endParaRPr lang="en-US" sz="1600" dirty="0"/>
          </a:p>
        </p:txBody>
      </p:sp>
      <p:sp>
        <p:nvSpPr>
          <p:cNvPr id="17" name="Text 3">
            <a:extLst>
              <a:ext uri="{FF2B5EF4-FFF2-40B4-BE49-F238E27FC236}">
                <a16:creationId xmlns:a16="http://schemas.microsoft.com/office/drawing/2014/main" id="{B64216F5-0FA4-0068-D370-A05255140E78}"/>
              </a:ext>
            </a:extLst>
          </p:cNvPr>
          <p:cNvSpPr txBox="1"/>
          <p:nvPr/>
        </p:nvSpPr>
        <p:spPr>
          <a:xfrm>
            <a:off x="731520" y="3921760"/>
            <a:ext cx="11115040" cy="640080"/>
          </a:xfrm>
          <a:prstGeom prst="rect">
            <a:avLst/>
          </a:prstGeom>
          <a:noFill/>
          <a:ln/>
        </p:spPr>
        <p:txBody>
          <a:bodyPr wrap="square" lIns="0" tIns="0" rIns="0" bIns="0" rtlCol="0" anchor="ctr"/>
          <a:lstStyle/>
          <a:p>
            <a:r>
              <a:rPr lang="en-US" sz="1300" dirty="0">
                <a:solidFill>
                  <a:srgbClr val="F2F6F8"/>
                </a:solidFill>
                <a:latin typeface="Calibri" pitchFamily="34" charset="0"/>
                <a:ea typeface="Calibri" pitchFamily="34" charset="-122"/>
                <a:cs typeface="Calibri" pitchFamily="34" charset="-120"/>
              </a:rPr>
              <a:t>This project explored global economic and demographic indicators across200+ countries (World Bank, IMF data, 2000–2025+). After cleaning </a:t>
            </a:r>
            <a:r>
              <a:rPr lang="en-US" sz="1300" dirty="0" err="1">
                <a:solidFill>
                  <a:srgbClr val="F2F6F8"/>
                </a:solidFill>
                <a:latin typeface="Calibri" pitchFamily="34" charset="0"/>
                <a:ea typeface="Calibri" pitchFamily="34" charset="-122"/>
                <a:cs typeface="Calibri" pitchFamily="34" charset="-120"/>
              </a:rPr>
              <a:t>andmerging</a:t>
            </a:r>
            <a:r>
              <a:rPr lang="en-US" sz="1300" dirty="0">
                <a:solidFill>
                  <a:srgbClr val="F2F6F8"/>
                </a:solidFill>
                <a:latin typeface="Calibri" pitchFamily="34" charset="0"/>
                <a:ea typeface="Calibri" pitchFamily="34" charset="-122"/>
                <a:cs typeface="Calibri" pitchFamily="34" charset="-120"/>
              </a:rPr>
              <a:t> three      source tables, key patterns emerged: </a:t>
            </a:r>
          </a:p>
          <a:p>
            <a:endParaRPr lang="en-US" sz="1300" dirty="0">
              <a:solidFill>
                <a:srgbClr val="F2F6F8"/>
              </a:solidFill>
              <a:latin typeface="Calibri" pitchFamily="34" charset="0"/>
              <a:ea typeface="Calibri" pitchFamily="34" charset="-122"/>
              <a:cs typeface="Calibri" pitchFamily="34" charset="-120"/>
            </a:endParaRPr>
          </a:p>
          <a:p>
            <a:pPr marL="285750" indent="-285750">
              <a:buFontTx/>
              <a:buChar char="-"/>
            </a:pPr>
            <a:r>
              <a:rPr lang="en-US" sz="1300" dirty="0">
                <a:solidFill>
                  <a:schemeClr val="bg1">
                    <a:lumMod val="95000"/>
                  </a:schemeClr>
                </a:solidFill>
              </a:rPr>
              <a:t>Poverty is strongly tied to income classification  —  average poverty  rate drops from ~50% in low-income countries to under 1% in high-income  countries.</a:t>
            </a:r>
          </a:p>
          <a:p>
            <a:pPr marL="285750" indent="-285750">
              <a:buFontTx/>
              <a:buChar char="-"/>
            </a:pPr>
            <a:r>
              <a:rPr lang="en-US" sz="1300" dirty="0">
                <a:solidFill>
                  <a:schemeClr val="bg1">
                    <a:lumMod val="95000"/>
                  </a:schemeClr>
                </a:solidFill>
              </a:rPr>
              <a:t>GDP and life expectancy show diminishing returns   —  life expectancy  rises sharply with GDP at lower income levels, then flattens at higher  incomes.</a:t>
            </a:r>
          </a:p>
          <a:p>
            <a:pPr marL="285750" indent="-285750">
              <a:buFontTx/>
              <a:buChar char="-"/>
            </a:pPr>
            <a:r>
              <a:rPr lang="en-US" sz="1300" dirty="0">
                <a:solidFill>
                  <a:schemeClr val="bg1">
                    <a:lumMod val="95000"/>
                  </a:schemeClr>
                </a:solidFill>
              </a:rPr>
              <a:t>Regional GDP gaps are persistent, not converging over 2000–2024.</a:t>
            </a:r>
          </a:p>
          <a:p>
            <a:pPr marL="285750" indent="-285750">
              <a:buFontTx/>
              <a:buChar char="-"/>
            </a:pPr>
            <a:r>
              <a:rPr lang="en-US" sz="1300" dirty="0">
                <a:solidFill>
                  <a:schemeClr val="bg1">
                    <a:lumMod val="95000"/>
                  </a:schemeClr>
                </a:solidFill>
              </a:rPr>
              <a:t>Geographic patterns are clear in the poverty choropleth, concentrated  in specific regions.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2148</TotalTime>
  <Words>2073</Words>
  <Application>Microsoft Office PowerPoint</Application>
  <PresentationFormat>Widescreen</PresentationFormat>
  <Paragraphs>144</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siri pattem</cp:lastModifiedBy>
  <cp:revision>5</cp:revision>
  <dcterms:created xsi:type="dcterms:W3CDTF">2026-09-04T02:43:15Z</dcterms:created>
  <dcterms:modified xsi:type="dcterms:W3CDTF">2026-09-06T07:30:15Z</dcterms:modified>
</cp:coreProperties>
</file>